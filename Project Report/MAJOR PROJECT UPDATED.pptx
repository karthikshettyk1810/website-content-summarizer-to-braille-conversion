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480" r:id="rId2"/>
    <p:sldId id="593" r:id="rId3"/>
    <p:sldId id="627" r:id="rId4"/>
    <p:sldId id="483" r:id="rId5"/>
    <p:sldId id="614" r:id="rId6"/>
    <p:sldId id="620" r:id="rId7"/>
    <p:sldId id="621" r:id="rId8"/>
    <p:sldId id="598" r:id="rId9"/>
    <p:sldId id="615" r:id="rId10"/>
    <p:sldId id="616" r:id="rId11"/>
    <p:sldId id="617" r:id="rId12"/>
    <p:sldId id="624" r:id="rId13"/>
    <p:sldId id="626" r:id="rId14"/>
    <p:sldId id="577" r:id="rId15"/>
    <p:sldId id="628" r:id="rId16"/>
    <p:sldId id="629" r:id="rId17"/>
    <p:sldId id="630" r:id="rId18"/>
    <p:sldId id="632" r:id="rId19"/>
    <p:sldId id="633" r:id="rId20"/>
    <p:sldId id="634" r:id="rId21"/>
    <p:sldId id="635" r:id="rId22"/>
    <p:sldId id="636" r:id="rId23"/>
    <p:sldId id="579" r:id="rId24"/>
    <p:sldId id="613"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279" autoAdjust="0"/>
    <p:restoredTop sz="92418" autoAdjust="0"/>
  </p:normalViewPr>
  <p:slideViewPr>
    <p:cSldViewPr>
      <p:cViewPr varScale="1">
        <p:scale>
          <a:sx n="76" d="100"/>
          <a:sy n="76" d="100"/>
        </p:scale>
        <p:origin x="1795"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F06C513-DC3F-4DFA-8728-DAB6AED74028}" type="datetimeFigureOut">
              <a:rPr lang="en-US" smtClean="0"/>
              <a:pPr/>
              <a:t>3/9/2025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4DC72D8-2D7B-4E65-8CB9-DEEA0A1D8015}" type="slidenum">
              <a:rPr lang="en-US" smtClean="0"/>
              <a:pPr/>
              <a:t>‹#›</a:t>
            </a:fld>
            <a:endParaRPr lang="en-US"/>
          </a:p>
        </p:txBody>
      </p:sp>
    </p:spTree>
    <p:extLst>
      <p:ext uri="{BB962C8B-B14F-4D97-AF65-F5344CB8AC3E}">
        <p14:creationId xmlns:p14="http://schemas.microsoft.com/office/powerpoint/2010/main" val="40402393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1000" r="-9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Times New Roman" pitchFamily="18" charset="0"/>
                <a:cs typeface="Times New Roman" pitchFamily="18" charset="0"/>
              </a:rPr>
              <a:t>PROJECT PHASE 2</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REVIEW 1</a:t>
            </a:r>
          </a:p>
        </p:txBody>
      </p:sp>
      <p:sp>
        <p:nvSpPr>
          <p:cNvPr id="4" name="Freeform 16"/>
          <p:cNvSpPr>
            <a:spLocks noGrp="1"/>
          </p:cNvSpPr>
          <p:nvPr>
            <p:ph idx="1"/>
          </p:nvPr>
        </p:nvSpPr>
        <p:spPr bwMode="auto">
          <a:xfrm>
            <a:off x="478134" y="2386484"/>
            <a:ext cx="8229600" cy="1066800"/>
          </a:xfrm>
          <a:custGeom>
            <a:avLst/>
            <a:gdLst>
              <a:gd name="T0" fmla="*/ 0 w 4583"/>
              <a:gd name="T1" fmla="*/ 0 h 727"/>
              <a:gd name="T2" fmla="*/ 0 w 4583"/>
              <a:gd name="T3" fmla="*/ 2147483647 h 727"/>
              <a:gd name="T4" fmla="*/ 2147483647 w 4583"/>
              <a:gd name="T5" fmla="*/ 2147483647 h 727"/>
              <a:gd name="T6" fmla="*/ 2147483647 w 4583"/>
              <a:gd name="T7" fmla="*/ 0 h 727"/>
              <a:gd name="T8" fmla="*/ 0 w 4583"/>
              <a:gd name="T9" fmla="*/ 0 h 727"/>
              <a:gd name="T10" fmla="*/ 0 60000 65536"/>
              <a:gd name="T11" fmla="*/ 0 60000 65536"/>
              <a:gd name="T12" fmla="*/ 0 60000 65536"/>
              <a:gd name="T13" fmla="*/ 0 60000 65536"/>
              <a:gd name="T14" fmla="*/ 0 60000 65536"/>
              <a:gd name="T15" fmla="*/ 0 w 4583"/>
              <a:gd name="T16" fmla="*/ 0 h 727"/>
              <a:gd name="T17" fmla="*/ 4583 w 4583"/>
              <a:gd name="T18" fmla="*/ 727 h 727"/>
            </a:gdLst>
            <a:ahLst/>
            <a:cxnLst>
              <a:cxn ang="T10">
                <a:pos x="T0" y="T1"/>
              </a:cxn>
              <a:cxn ang="T11">
                <a:pos x="T2" y="T3"/>
              </a:cxn>
              <a:cxn ang="T12">
                <a:pos x="T4" y="T5"/>
              </a:cxn>
              <a:cxn ang="T13">
                <a:pos x="T6" y="T7"/>
              </a:cxn>
              <a:cxn ang="T14">
                <a:pos x="T8" y="T9"/>
              </a:cxn>
            </a:cxnLst>
            <a:rect l="T15" t="T16" r="T17" b="T18"/>
            <a:pathLst>
              <a:path w="4583" h="727">
                <a:moveTo>
                  <a:pt x="0" y="0"/>
                </a:moveTo>
                <a:lnTo>
                  <a:pt x="0" y="727"/>
                </a:lnTo>
                <a:lnTo>
                  <a:pt x="4583" y="727"/>
                </a:lnTo>
                <a:lnTo>
                  <a:pt x="4028" y="0"/>
                </a:lnTo>
                <a:lnTo>
                  <a:pt x="0" y="0"/>
                </a:lnTo>
                <a:close/>
              </a:path>
            </a:pathLst>
          </a:custGeom>
          <a:solidFill>
            <a:srgbClr val="F18B17">
              <a:alpha val="85097"/>
            </a:srgbClr>
          </a:solidFill>
          <a:ln w="9525">
            <a:noFill/>
            <a:miter lim="800000"/>
          </a:ln>
        </p:spPr>
        <p:txBody>
          <a:bodyPr>
            <a:normAutofit fontScale="77500" lnSpcReduction="20000"/>
          </a:bodyPr>
          <a:lstStyle/>
          <a:p>
            <a:pPr marL="0" indent="0" algn="ctr" eaLnBrk="1" hangingPunct="1">
              <a:buNone/>
            </a:pPr>
            <a:r>
              <a:rPr lang="en-IN" sz="3100" b="1" dirty="0">
                <a:latin typeface="Times New Roman" panose="02020603050405020304" pitchFamily="18" charset="0"/>
                <a:ea typeface="Verdana" panose="020B0604030504040204" pitchFamily="34" charset="0"/>
                <a:cs typeface="Times New Roman" panose="02020603050405020304" pitchFamily="18" charset="0"/>
              </a:rPr>
              <a:t> Department of CSE</a:t>
            </a:r>
          </a:p>
          <a:p>
            <a:pPr marL="0" indent="0" algn="ctr" eaLnBrk="1" hangingPunct="1">
              <a:buNone/>
            </a:pPr>
            <a:r>
              <a:rPr lang="en-IN" sz="3100" b="1" dirty="0">
                <a:latin typeface="Times New Roman" panose="02020603050405020304" pitchFamily="18" charset="0"/>
                <a:ea typeface="Verdana" panose="020B0604030504040204" pitchFamily="34" charset="0"/>
                <a:cs typeface="Times New Roman" panose="02020603050405020304" pitchFamily="18" charset="0"/>
              </a:rPr>
              <a:t>Title : - Website Content Summarizer to Braille Conversion</a:t>
            </a:r>
          </a:p>
          <a:p>
            <a:pPr marL="0" indent="0" algn="ctr" eaLnBrk="1" hangingPunct="1">
              <a:buNone/>
            </a:pPr>
            <a:endParaRPr lang="en-IN" sz="3100" b="1"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5" name="Freeform 16"/>
          <p:cNvSpPr/>
          <p:nvPr/>
        </p:nvSpPr>
        <p:spPr bwMode="auto">
          <a:xfrm>
            <a:off x="2971800" y="5105400"/>
            <a:ext cx="6072187" cy="1345474"/>
          </a:xfrm>
          <a:custGeom>
            <a:avLst/>
            <a:gdLst>
              <a:gd name="T0" fmla="*/ 0 w 4583"/>
              <a:gd name="T1" fmla="*/ 0 h 727"/>
              <a:gd name="T2" fmla="*/ 0 w 4583"/>
              <a:gd name="T3" fmla="*/ 2147483647 h 727"/>
              <a:gd name="T4" fmla="*/ 2147483647 w 4583"/>
              <a:gd name="T5" fmla="*/ 2147483647 h 727"/>
              <a:gd name="T6" fmla="*/ 2147483647 w 4583"/>
              <a:gd name="T7" fmla="*/ 0 h 727"/>
              <a:gd name="T8" fmla="*/ 0 w 4583"/>
              <a:gd name="T9" fmla="*/ 0 h 727"/>
              <a:gd name="T10" fmla="*/ 0 60000 65536"/>
              <a:gd name="T11" fmla="*/ 0 60000 65536"/>
              <a:gd name="T12" fmla="*/ 0 60000 65536"/>
              <a:gd name="T13" fmla="*/ 0 60000 65536"/>
              <a:gd name="T14" fmla="*/ 0 60000 65536"/>
              <a:gd name="T15" fmla="*/ 0 w 4583"/>
              <a:gd name="T16" fmla="*/ 0 h 727"/>
              <a:gd name="T17" fmla="*/ 4583 w 4583"/>
              <a:gd name="T18" fmla="*/ 727 h 727"/>
            </a:gdLst>
            <a:ahLst/>
            <a:cxnLst>
              <a:cxn ang="T10">
                <a:pos x="T0" y="T1"/>
              </a:cxn>
              <a:cxn ang="T11">
                <a:pos x="T2" y="T3"/>
              </a:cxn>
              <a:cxn ang="T12">
                <a:pos x="T4" y="T5"/>
              </a:cxn>
              <a:cxn ang="T13">
                <a:pos x="T6" y="T7"/>
              </a:cxn>
              <a:cxn ang="T14">
                <a:pos x="T8" y="T9"/>
              </a:cxn>
            </a:cxnLst>
            <a:rect l="T15" t="T16" r="T17" b="T18"/>
            <a:pathLst>
              <a:path w="4583" h="727">
                <a:moveTo>
                  <a:pt x="0" y="0"/>
                </a:moveTo>
                <a:lnTo>
                  <a:pt x="0" y="727"/>
                </a:lnTo>
                <a:lnTo>
                  <a:pt x="4583" y="727"/>
                </a:lnTo>
                <a:lnTo>
                  <a:pt x="4028" y="0"/>
                </a:lnTo>
                <a:lnTo>
                  <a:pt x="0" y="0"/>
                </a:lnTo>
                <a:close/>
              </a:path>
            </a:pathLst>
          </a:custGeom>
          <a:solidFill>
            <a:srgbClr val="F18B17">
              <a:alpha val="85097"/>
            </a:srgbClr>
          </a:solidFill>
          <a:ln w="9525">
            <a:noFill/>
            <a:miter lim="800000"/>
          </a:ln>
        </p:spPr>
        <p:txBody>
          <a:bodyPr/>
          <a:lstStyle/>
          <a:p>
            <a:pPr algn="ctr" eaLnBrk="1" hangingPunct="1"/>
            <a:r>
              <a:rPr lang="en-IN" sz="2000" b="1" dirty="0">
                <a:latin typeface="Times New Roman" panose="02020603050405020304" pitchFamily="18" charset="0"/>
                <a:cs typeface="Times New Roman" panose="02020603050405020304" pitchFamily="18" charset="0"/>
              </a:rPr>
              <a:t>Under guidance of</a:t>
            </a:r>
          </a:p>
          <a:p>
            <a:pPr algn="ctr" eaLnBrk="1" hangingPunct="1"/>
            <a:r>
              <a:rPr lang="en-IN" sz="2000" b="1" dirty="0">
                <a:latin typeface="Times New Roman" panose="02020603050405020304" pitchFamily="18" charset="0"/>
                <a:cs typeface="Times New Roman" panose="02020603050405020304" pitchFamily="18" charset="0"/>
              </a:rPr>
              <a:t>Prof </a:t>
            </a:r>
            <a:r>
              <a:rPr lang="en-IN" sz="2000" b="1" dirty="0" err="1">
                <a:latin typeface="Times New Roman" panose="02020603050405020304" pitchFamily="18" charset="0"/>
                <a:cs typeface="Times New Roman" panose="02020603050405020304" pitchFamily="18" charset="0"/>
              </a:rPr>
              <a:t>Mrs.Sophia</a:t>
            </a:r>
            <a:endParaRPr lang="en-IN"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TEAM MEMBERS</a:t>
            </a:r>
          </a:p>
        </p:txBody>
      </p:sp>
      <p:sp>
        <p:nvSpPr>
          <p:cNvPr id="3" name="Content Placeholder 2"/>
          <p:cNvSpPr>
            <a:spLocks noGrp="1"/>
          </p:cNvSpPr>
          <p:nvPr>
            <p:ph idx="1"/>
          </p:nvPr>
        </p:nvSpPr>
        <p:spPr>
          <a:xfrm>
            <a:off x="723900" y="2057400"/>
            <a:ext cx="7696200" cy="4267200"/>
          </a:xfrm>
        </p:spPr>
        <p:txBody>
          <a:bodyPr>
            <a:noAutofit/>
          </a:bodyPr>
          <a:lstStyle/>
          <a:p>
            <a:pPr>
              <a:buFont typeface="+mj-lt"/>
              <a:buAutoNum type="arabicPeriod"/>
            </a:pPr>
            <a:r>
              <a:rPr lang="en-US" sz="2400" dirty="0">
                <a:latin typeface="Times New Roman" panose="02020603050405020304" pitchFamily="18" charset="0"/>
                <a:cs typeface="Times New Roman" panose="02020603050405020304" pitchFamily="18" charset="0"/>
              </a:rPr>
              <a:t>KARTHIK SHETTY K (1MJ22CS408)</a:t>
            </a:r>
          </a:p>
          <a:p>
            <a:pPr>
              <a:buFont typeface="+mj-lt"/>
              <a:buAutoNum type="arabicPeriod"/>
            </a:pPr>
            <a:r>
              <a:rPr lang="en-US" sz="2400" dirty="0">
                <a:latin typeface="Times New Roman" panose="02020603050405020304" pitchFamily="18" charset="0"/>
                <a:cs typeface="Times New Roman" panose="02020603050405020304" pitchFamily="18" charset="0"/>
              </a:rPr>
              <a:t>NISAR AHAMED (1MJ22CS410)</a:t>
            </a:r>
          </a:p>
          <a:p>
            <a:pPr>
              <a:buFont typeface="+mj-lt"/>
              <a:buAutoNum type="arabicPeriod"/>
            </a:pPr>
            <a:r>
              <a:rPr lang="en-US" sz="2400" dirty="0">
                <a:latin typeface="Times New Roman" panose="02020603050405020304" pitchFamily="18" charset="0"/>
                <a:cs typeface="Times New Roman" panose="02020603050405020304" pitchFamily="18" charset="0"/>
              </a:rPr>
              <a:t>RAJDURAI D KUDIYANNAVAR (1MJ22CS414)</a:t>
            </a:r>
          </a:p>
          <a:p>
            <a:pPr>
              <a:buFont typeface="+mj-lt"/>
              <a:buAutoNum type="arabicPeriod"/>
            </a:pPr>
            <a:r>
              <a:rPr lang="en-US" sz="2400" dirty="0">
                <a:latin typeface="Times New Roman" panose="02020603050405020304" pitchFamily="18" charset="0"/>
                <a:cs typeface="Times New Roman" panose="02020603050405020304" pitchFamily="18" charset="0"/>
              </a:rPr>
              <a:t>WILLIAMS KA (1MJ22CS423)</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27150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452C2-D1F2-5A32-4983-8637D23C85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205CCE-19DA-78D7-861B-130AD3D1ADBD}"/>
              </a:ext>
            </a:extLst>
          </p:cNvPr>
          <p:cNvSpPr>
            <a:spLocks noGrp="1"/>
          </p:cNvSpPr>
          <p:nvPr>
            <p:ph type="title"/>
          </p:nvPr>
        </p:nvSpPr>
        <p:spPr/>
        <p:txBody>
          <a:bodyPr/>
          <a:lstStyle/>
          <a:p>
            <a:r>
              <a:rPr lang="en-US" dirty="0">
                <a:latin typeface="Times New Roman" pitchFamily="18" charset="0"/>
                <a:cs typeface="Times New Roman" pitchFamily="18" charset="0"/>
              </a:rPr>
              <a:t>ABSTRACT</a:t>
            </a:r>
          </a:p>
        </p:txBody>
      </p:sp>
      <p:sp>
        <p:nvSpPr>
          <p:cNvPr id="3" name="Content Placeholder 2">
            <a:extLst>
              <a:ext uri="{FF2B5EF4-FFF2-40B4-BE49-F238E27FC236}">
                <a16:creationId xmlns:a16="http://schemas.microsoft.com/office/drawing/2014/main" id="{CA972BCB-62C0-E678-321C-125602FF6E6F}"/>
              </a:ext>
            </a:extLst>
          </p:cNvPr>
          <p:cNvSpPr>
            <a:spLocks noGrp="1"/>
          </p:cNvSpPr>
          <p:nvPr>
            <p:ph idx="1"/>
          </p:nvPr>
        </p:nvSpPr>
        <p:spPr>
          <a:xfrm>
            <a:off x="723900" y="1600200"/>
            <a:ext cx="7696200" cy="4724400"/>
          </a:xfrm>
        </p:spPr>
        <p:txBody>
          <a:bodyPr>
            <a:noAutofit/>
          </a:bodyPr>
          <a:lstStyle/>
          <a:p>
            <a:pPr marL="0" indent="0" algn="just">
              <a:buNone/>
            </a:pPr>
            <a:r>
              <a:rPr lang="en-US" sz="1600" dirty="0">
                <a:latin typeface="Times New Roman" panose="02020603050405020304" pitchFamily="18" charset="0"/>
                <a:cs typeface="Times New Roman" panose="02020603050405020304" pitchFamily="18" charset="0"/>
              </a:rPr>
              <a:t>The rapid expansion of digital content has made information widely accessible, but visually impaired individuals often face significant challenges in navigating and understanding online information. While screen readers provide basic accessibility, they lack efficiency in summarizing content and are not designed to cater to Braille users effectively. This project proposes a "Website Content Summarizer to Braille Conversion" system that bridges this gap by automating the summarization of website content and converting the extracted summary into Braille. The system leverages Natural Language Processing (NLP) techniques for summarization and Braille encoding algorithms for conversion. By delivering concise and relevant information in Braille, this solution aims to enhance accessibility and ensure inclusivity for visually impaired individuals. The proposed system focuses on user-friendly functionality, support for multiple languages, and adaptability to various content types, making it a valuable tool for enabling equal access to digital information.</a:t>
            </a:r>
          </a:p>
        </p:txBody>
      </p:sp>
    </p:spTree>
    <p:extLst>
      <p:ext uri="{BB962C8B-B14F-4D97-AF65-F5344CB8AC3E}">
        <p14:creationId xmlns:p14="http://schemas.microsoft.com/office/powerpoint/2010/main" val="39194559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a:xfrm>
            <a:off x="762000" y="1417638"/>
            <a:ext cx="7620000" cy="3687762"/>
          </a:xfrm>
        </p:spPr>
        <p:txBody>
          <a:bodyPr>
            <a:noAutofit/>
          </a:bodyPr>
          <a:lstStyle/>
          <a:p>
            <a:pPr marL="0" indent="0" algn="just">
              <a:lnSpc>
                <a:spcPct val="115000"/>
              </a:lnSpc>
              <a:buNone/>
            </a:pPr>
            <a:r>
              <a:rPr lang="en-US" sz="1600" dirty="0">
                <a:latin typeface="Times New Roman" panose="02020603050405020304" pitchFamily="18" charset="0"/>
                <a:cs typeface="Times New Roman" panose="02020603050405020304" pitchFamily="18" charset="0"/>
              </a:rPr>
              <a:t>Access to information is a fundamental right, yet visually impaired individuals often face significant barriers when navigating the vast amounts of textual content available on websites. While screen readers help bridge the accessibility gap, they can be time-consuming and cumbersome, especially when dealing with lengthy or irrelevant information. For individuals who rely on Braille for reading, the challenge is even greater, as converting website content into Braille often requires expensive and specialized </a:t>
            </a:r>
            <a:r>
              <a:rPr lang="en-US" sz="1600" dirty="0" err="1">
                <a:latin typeface="Times New Roman" panose="02020603050405020304" pitchFamily="18" charset="0"/>
                <a:cs typeface="Times New Roman" panose="02020603050405020304" pitchFamily="18" charset="0"/>
              </a:rPr>
              <a:t>tools.To</a:t>
            </a:r>
            <a:r>
              <a:rPr lang="en-US" sz="1600" dirty="0">
                <a:latin typeface="Times New Roman" panose="02020603050405020304" pitchFamily="18" charset="0"/>
                <a:cs typeface="Times New Roman" panose="02020603050405020304" pitchFamily="18" charset="0"/>
              </a:rPr>
              <a:t> address these challenges, the proposed "Website Content Summarizer to Braille Conversion" system aims to create a streamlined and efficient solution. This system will automatically extract the most relevant information from website content through summarization techniques and convert the resulting text into Braille. By combining summarization and Braille conversion, this tool will empower visually impaired users to access web content more effectively, enhancing their independence and inclusion in the digital age.</a:t>
            </a: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43943-6DB2-CC81-7720-5147361D843E}"/>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PROBLEM STATEMENT</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5372510-9371-68B8-7FFF-02406503A7E4}"/>
              </a:ext>
            </a:extLst>
          </p:cNvPr>
          <p:cNvSpPr>
            <a:spLocks noGrp="1"/>
          </p:cNvSpPr>
          <p:nvPr>
            <p:ph idx="1"/>
          </p:nvPr>
        </p:nvSpPr>
        <p:spPr>
          <a:xfrm>
            <a:off x="457200" y="2057400"/>
            <a:ext cx="8229600" cy="4068763"/>
          </a:xfrm>
        </p:spPr>
        <p:txBody>
          <a:bodyPr>
            <a:normAutofit/>
          </a:bodyPr>
          <a:lstStyle/>
          <a:p>
            <a:pPr marL="514350" indent="-514350" algn="just">
              <a:buFont typeface="+mj-lt"/>
              <a:buAutoNum type="arabicPeriod"/>
            </a:pPr>
            <a:r>
              <a:rPr lang="en-US" sz="2400" dirty="0">
                <a:latin typeface="Times New Roman" panose="02020603050405020304" pitchFamily="18" charset="0"/>
                <a:cs typeface="Times New Roman" panose="02020603050405020304" pitchFamily="18" charset="0"/>
              </a:rPr>
              <a:t>Inefficiency of Screen Readers</a:t>
            </a:r>
          </a:p>
          <a:p>
            <a:pPr marL="514350" indent="-514350" algn="just">
              <a:buFont typeface="+mj-lt"/>
              <a:buAutoNum type="arabicPeriod"/>
            </a:pPr>
            <a:r>
              <a:rPr lang="en-IN" sz="2400" dirty="0">
                <a:latin typeface="Times New Roman" panose="02020603050405020304" pitchFamily="18" charset="0"/>
                <a:cs typeface="Times New Roman" panose="02020603050405020304" pitchFamily="18" charset="0"/>
              </a:rPr>
              <a:t>Limited Accessibility of Braille Conversion Tools</a:t>
            </a:r>
          </a:p>
          <a:p>
            <a:pPr marL="514350" indent="-514350" algn="just">
              <a:buFont typeface="+mj-lt"/>
              <a:buAutoNum type="arabicPeriod"/>
            </a:pPr>
            <a:r>
              <a:rPr lang="en-IN" sz="2400" dirty="0">
                <a:latin typeface="Times New Roman" panose="02020603050405020304" pitchFamily="18" charset="0"/>
                <a:cs typeface="Times New Roman" panose="02020603050405020304" pitchFamily="18" charset="0"/>
              </a:rPr>
              <a:t>Need for Automatic Summarization</a:t>
            </a:r>
          </a:p>
          <a:p>
            <a:pPr marL="514350" indent="-514350" algn="just">
              <a:buFont typeface="+mj-lt"/>
              <a:buAutoNum type="arabicPeriod"/>
            </a:pPr>
            <a:r>
              <a:rPr lang="en-IN" sz="2400" dirty="0">
                <a:latin typeface="Times New Roman" panose="02020603050405020304" pitchFamily="18" charset="0"/>
                <a:cs typeface="Times New Roman" panose="02020603050405020304" pitchFamily="18" charset="0"/>
              </a:rPr>
              <a:t>Lack of Multi-Language Support</a:t>
            </a:r>
          </a:p>
          <a:p>
            <a:pPr marL="514350" indent="-514350" algn="just">
              <a:buFont typeface="+mj-lt"/>
              <a:buAutoNum type="arabicPeriod"/>
            </a:pPr>
            <a:r>
              <a:rPr lang="en-IN" sz="2400" dirty="0">
                <a:latin typeface="Times New Roman" panose="02020603050405020304" pitchFamily="18" charset="0"/>
                <a:cs typeface="Times New Roman" panose="02020603050405020304" pitchFamily="18" charset="0"/>
              </a:rPr>
              <a:t>User-Friendliness and Seamless Integration</a:t>
            </a:r>
          </a:p>
        </p:txBody>
      </p:sp>
    </p:spTree>
    <p:extLst>
      <p:ext uri="{BB962C8B-B14F-4D97-AF65-F5344CB8AC3E}">
        <p14:creationId xmlns:p14="http://schemas.microsoft.com/office/powerpoint/2010/main" val="3901420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3EB86-6BD0-D6AA-F833-B76143A782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C36123-E6FC-D742-1ED9-34862CA8A4DF}"/>
              </a:ext>
            </a:extLst>
          </p:cNvPr>
          <p:cNvSpPr>
            <a:spLocks noGrp="1"/>
          </p:cNvSpPr>
          <p:nvPr>
            <p:ph type="title"/>
          </p:nvPr>
        </p:nvSpPr>
        <p:spPr>
          <a:xfrm>
            <a:off x="461865" y="146953"/>
            <a:ext cx="8229600" cy="1143000"/>
          </a:xfrm>
        </p:spPr>
        <p:txBody>
          <a:bodyPr/>
          <a:lstStyle/>
          <a:p>
            <a:r>
              <a:rPr lang="en-US" dirty="0">
                <a:latin typeface="Times New Roman" pitchFamily="18" charset="0"/>
                <a:cs typeface="Times New Roman" pitchFamily="18" charset="0"/>
              </a:rPr>
              <a:t>EXISTING SYSTEM</a:t>
            </a:r>
          </a:p>
        </p:txBody>
      </p:sp>
      <p:sp>
        <p:nvSpPr>
          <p:cNvPr id="4" name="Rectangle 2">
            <a:extLst>
              <a:ext uri="{FF2B5EF4-FFF2-40B4-BE49-F238E27FC236}">
                <a16:creationId xmlns:a16="http://schemas.microsoft.com/office/drawing/2014/main" id="{D0D21E22-478F-9B9E-F2E3-0F7158A7EBFF}"/>
              </a:ext>
            </a:extLst>
          </p:cNvPr>
          <p:cNvSpPr>
            <a:spLocks noGrp="1" noChangeArrowheads="1"/>
          </p:cNvSpPr>
          <p:nvPr>
            <p:ph idx="1"/>
          </p:nvPr>
        </p:nvSpPr>
        <p:spPr bwMode="auto">
          <a:xfrm>
            <a:off x="452535" y="1299284"/>
            <a:ext cx="8610600" cy="4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mj-lt"/>
              <a:buAutoNum type="arabicPeriod"/>
            </a:pPr>
            <a:r>
              <a:rPr lang="en-US" sz="1600" b="1" dirty="0">
                <a:latin typeface="Times New Roman" panose="02020603050405020304" pitchFamily="18" charset="0"/>
                <a:cs typeface="Times New Roman" panose="02020603050405020304" pitchFamily="18" charset="0"/>
              </a:rPr>
              <a:t>Screen Readers (e.g., NVDA, JAWS):</a:t>
            </a:r>
          </a:p>
          <a:p>
            <a:pPr marL="457200" lvl="1" indent="0">
              <a:buNone/>
            </a:pPr>
            <a:r>
              <a:rPr lang="en-US" sz="1600" dirty="0">
                <a:latin typeface="Times New Roman" panose="02020603050405020304" pitchFamily="18" charset="0"/>
                <a:cs typeface="Times New Roman" panose="02020603050405020304" pitchFamily="18" charset="0"/>
              </a:rPr>
              <a:t>Inefficient for summarizing lengthy content.</a:t>
            </a:r>
          </a:p>
          <a:p>
            <a:pPr marL="457200" lvl="1" indent="0">
              <a:buNone/>
            </a:pPr>
            <a:endParaRPr lang="en-US" sz="1600" dirty="0">
              <a:latin typeface="Times New Roman" panose="02020603050405020304" pitchFamily="18" charset="0"/>
              <a:cs typeface="Times New Roman" panose="02020603050405020304" pitchFamily="18" charset="0"/>
            </a:endParaRPr>
          </a:p>
          <a:p>
            <a:pPr>
              <a:buFont typeface="+mj-lt"/>
              <a:buAutoNum type="arabicPeriod"/>
            </a:pPr>
            <a:r>
              <a:rPr lang="en-US" sz="1600" b="1" dirty="0">
                <a:latin typeface="Times New Roman" panose="02020603050405020304" pitchFamily="18" charset="0"/>
                <a:cs typeface="Times New Roman" panose="02020603050405020304" pitchFamily="18" charset="0"/>
              </a:rPr>
              <a:t>Standalone Braille Translators (e.g., Duxbury, Braille Blaster):</a:t>
            </a:r>
          </a:p>
          <a:p>
            <a:pPr marL="457200" lvl="1" indent="0">
              <a:buNone/>
            </a:pPr>
            <a:r>
              <a:rPr lang="en-US" sz="1600" dirty="0">
                <a:latin typeface="Times New Roman" panose="02020603050405020304" pitchFamily="18" charset="0"/>
                <a:cs typeface="Times New Roman" panose="02020603050405020304" pitchFamily="18" charset="0"/>
              </a:rPr>
              <a:t>Do not provide summarization of web content.</a:t>
            </a:r>
          </a:p>
          <a:p>
            <a:pPr marL="457200" lvl="1" indent="0">
              <a:buNone/>
            </a:pPr>
            <a:endParaRPr lang="en-US" sz="1600" dirty="0">
              <a:latin typeface="Times New Roman" panose="02020603050405020304" pitchFamily="18" charset="0"/>
              <a:cs typeface="Times New Roman" panose="02020603050405020304" pitchFamily="18" charset="0"/>
            </a:endParaRPr>
          </a:p>
          <a:p>
            <a:pPr>
              <a:buFont typeface="+mj-lt"/>
              <a:buAutoNum type="arabicPeriod"/>
            </a:pPr>
            <a:r>
              <a:rPr lang="en-US" sz="1600" b="1" dirty="0">
                <a:latin typeface="Times New Roman" panose="02020603050405020304" pitchFamily="18" charset="0"/>
                <a:cs typeface="Times New Roman" panose="02020603050405020304" pitchFamily="18" charset="0"/>
              </a:rPr>
              <a:t>Braille Displays (e.g., Refreshable Braille Devices):</a:t>
            </a:r>
          </a:p>
          <a:p>
            <a:pPr marL="457200" lvl="1" indent="0">
              <a:buNone/>
            </a:pPr>
            <a:r>
              <a:rPr lang="en-US" sz="1600" dirty="0">
                <a:latin typeface="Times New Roman" panose="02020603050405020304" pitchFamily="18" charset="0"/>
                <a:cs typeface="Times New Roman" panose="02020603050405020304" pitchFamily="18" charset="0"/>
              </a:rPr>
              <a:t>Lack built-in summarization capabilities.</a:t>
            </a:r>
          </a:p>
          <a:p>
            <a:pPr marL="457200" lvl="1" indent="0">
              <a:buNone/>
            </a:pPr>
            <a:endParaRPr lang="en-US" sz="1600" dirty="0">
              <a:latin typeface="Times New Roman" panose="02020603050405020304" pitchFamily="18" charset="0"/>
              <a:cs typeface="Times New Roman" panose="02020603050405020304" pitchFamily="18" charset="0"/>
            </a:endParaRPr>
          </a:p>
          <a:p>
            <a:pPr>
              <a:buFont typeface="+mj-lt"/>
              <a:buAutoNum type="arabicPeriod"/>
            </a:pPr>
            <a:r>
              <a:rPr lang="en-US" sz="1600" b="1" dirty="0">
                <a:latin typeface="Times New Roman" panose="02020603050405020304" pitchFamily="18" charset="0"/>
                <a:cs typeface="Times New Roman" panose="02020603050405020304" pitchFamily="18" charset="0"/>
              </a:rPr>
              <a:t>Web Summarization Tools (e.g., </a:t>
            </a:r>
            <a:r>
              <a:rPr lang="en-US" sz="1600" b="1" dirty="0" err="1">
                <a:latin typeface="Times New Roman" panose="02020603050405020304" pitchFamily="18" charset="0"/>
                <a:cs typeface="Times New Roman" panose="02020603050405020304" pitchFamily="18" charset="0"/>
              </a:rPr>
              <a:t>Resoomer</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SummarizeBot</a:t>
            </a:r>
            <a:r>
              <a:rPr lang="en-US" sz="1600" b="1" dirty="0">
                <a:latin typeface="Times New Roman" panose="02020603050405020304" pitchFamily="18" charset="0"/>
                <a:cs typeface="Times New Roman" panose="02020603050405020304" pitchFamily="18" charset="0"/>
              </a:rPr>
              <a:t>):</a:t>
            </a:r>
          </a:p>
          <a:p>
            <a:pPr marL="457200" lvl="1" indent="0">
              <a:buNone/>
            </a:pPr>
            <a:r>
              <a:rPr lang="en-US" sz="1600" dirty="0">
                <a:latin typeface="Times New Roman" panose="02020603050405020304" pitchFamily="18" charset="0"/>
                <a:cs typeface="Times New Roman" panose="02020603050405020304" pitchFamily="18" charset="0"/>
              </a:rPr>
              <a:t>Do not integrate Braille conversion.</a:t>
            </a:r>
          </a:p>
          <a:p>
            <a:pPr marL="457200" lvl="1" indent="0">
              <a:buNone/>
            </a:pPr>
            <a:endParaRPr lang="en-US" sz="1600" dirty="0">
              <a:latin typeface="Times New Roman" panose="02020603050405020304" pitchFamily="18" charset="0"/>
              <a:cs typeface="Times New Roman" panose="02020603050405020304" pitchFamily="18" charset="0"/>
            </a:endParaRPr>
          </a:p>
          <a:p>
            <a:pPr>
              <a:buFont typeface="+mj-lt"/>
              <a:buAutoNum type="arabicPeriod"/>
            </a:pPr>
            <a:r>
              <a:rPr lang="en-US" sz="1600" b="1" dirty="0">
                <a:latin typeface="Times New Roman" panose="02020603050405020304" pitchFamily="18" charset="0"/>
                <a:cs typeface="Times New Roman" panose="02020603050405020304" pitchFamily="18" charset="0"/>
              </a:rPr>
              <a:t>Accessibility Features in Browsers:</a:t>
            </a:r>
          </a:p>
          <a:p>
            <a:pPr marL="457200" lvl="1" indent="0">
              <a:buNone/>
            </a:pPr>
            <a:r>
              <a:rPr lang="en-US" sz="1600" dirty="0">
                <a:latin typeface="Times New Roman" panose="02020603050405020304" pitchFamily="18" charset="0"/>
                <a:cs typeface="Times New Roman" panose="02020603050405020304" pitchFamily="18" charset="0"/>
              </a:rPr>
              <a:t>No support for Braille output.</a:t>
            </a:r>
          </a:p>
          <a:p>
            <a:pPr>
              <a:buFont typeface="+mj-lt"/>
              <a:buAutoNum type="arabicPeriod"/>
            </a:pPr>
            <a:endParaRPr lang="en-US" sz="1600" b="1" dirty="0">
              <a:latin typeface="Times New Roman" panose="02020603050405020304" pitchFamily="18" charset="0"/>
              <a:cs typeface="Times New Roman" panose="02020603050405020304" pitchFamily="18" charset="0"/>
            </a:endParaRPr>
          </a:p>
          <a:p>
            <a:pPr>
              <a:buFont typeface="+mj-lt"/>
              <a:buAutoNum type="arabicPeriod"/>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44472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BE747-0AEE-2461-4567-0E3DEA708E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D35226-44B6-B7E4-1D1A-E1C229579C99}"/>
              </a:ext>
            </a:extLst>
          </p:cNvPr>
          <p:cNvSpPr>
            <a:spLocks noGrp="1"/>
          </p:cNvSpPr>
          <p:nvPr>
            <p:ph type="title"/>
          </p:nvPr>
        </p:nvSpPr>
        <p:spPr>
          <a:xfrm>
            <a:off x="416768" y="-152653"/>
            <a:ext cx="8229600" cy="1143000"/>
          </a:xfrm>
        </p:spPr>
        <p:txBody>
          <a:bodyPr/>
          <a:lstStyle/>
          <a:p>
            <a:r>
              <a:rPr lang="en-US" dirty="0">
                <a:latin typeface="Times New Roman" pitchFamily="18" charset="0"/>
                <a:cs typeface="Times New Roman" pitchFamily="18" charset="0"/>
              </a:rPr>
              <a:t>PROPOSED SYSTEM</a:t>
            </a:r>
          </a:p>
        </p:txBody>
      </p:sp>
      <p:sp>
        <p:nvSpPr>
          <p:cNvPr id="4" name="Rectangle 2">
            <a:extLst>
              <a:ext uri="{FF2B5EF4-FFF2-40B4-BE49-F238E27FC236}">
                <a16:creationId xmlns:a16="http://schemas.microsoft.com/office/drawing/2014/main" id="{55DF9616-D2E7-0F95-833A-175FAABD2759}"/>
              </a:ext>
            </a:extLst>
          </p:cNvPr>
          <p:cNvSpPr>
            <a:spLocks noGrp="1" noChangeArrowheads="1"/>
          </p:cNvSpPr>
          <p:nvPr>
            <p:ph idx="1"/>
          </p:nvPr>
        </p:nvSpPr>
        <p:spPr bwMode="auto">
          <a:xfrm>
            <a:off x="452535" y="929953"/>
            <a:ext cx="8610600"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mj-lt"/>
              <a:buAutoNum type="arabicPeriod"/>
            </a:pPr>
            <a:r>
              <a:rPr lang="en-US" sz="1600" b="1" dirty="0">
                <a:latin typeface="Times New Roman" panose="02020603050405020304" pitchFamily="18" charset="0"/>
                <a:cs typeface="Times New Roman" panose="02020603050405020304" pitchFamily="18" charset="0"/>
              </a:rPr>
              <a:t>Accessibility:</a:t>
            </a:r>
          </a:p>
          <a:p>
            <a:pPr marL="457200" lvl="1" indent="0">
              <a:buNone/>
            </a:pPr>
            <a:r>
              <a:rPr lang="en-US" sz="1600" dirty="0">
                <a:latin typeface="Times New Roman" panose="02020603050405020304" pitchFamily="18" charset="0"/>
                <a:cs typeface="Times New Roman" panose="02020603050405020304" pitchFamily="18" charset="0"/>
              </a:rPr>
              <a:t>Enhances the accessibility of web content for visually impaired users by combining Braille, audio, and translation features.</a:t>
            </a:r>
          </a:p>
          <a:p>
            <a:pPr marL="457200" lvl="1" indent="0">
              <a:buNone/>
            </a:pPr>
            <a:endParaRPr lang="en-US" sz="1600" dirty="0">
              <a:latin typeface="Times New Roman" panose="02020603050405020304" pitchFamily="18" charset="0"/>
              <a:cs typeface="Times New Roman" panose="02020603050405020304" pitchFamily="18" charset="0"/>
            </a:endParaRPr>
          </a:p>
          <a:p>
            <a:pPr>
              <a:buFont typeface="+mj-lt"/>
              <a:buAutoNum type="arabicPeriod"/>
            </a:pPr>
            <a:r>
              <a:rPr lang="en-US" sz="1600" b="1" dirty="0">
                <a:latin typeface="Times New Roman" panose="02020603050405020304" pitchFamily="18" charset="0"/>
                <a:cs typeface="Times New Roman" panose="02020603050405020304" pitchFamily="18" charset="0"/>
              </a:rPr>
              <a:t>Efficiency:</a:t>
            </a:r>
          </a:p>
          <a:p>
            <a:pPr marL="457200" lvl="1" indent="0">
              <a:buNone/>
            </a:pPr>
            <a:r>
              <a:rPr lang="en-US" sz="1600" dirty="0">
                <a:latin typeface="Times New Roman" panose="02020603050405020304" pitchFamily="18" charset="0"/>
                <a:cs typeface="Times New Roman" panose="02020603050405020304" pitchFamily="18" charset="0"/>
              </a:rPr>
              <a:t>Saves time by summarizing lengthy content and presenting only the essential information..</a:t>
            </a:r>
          </a:p>
          <a:p>
            <a:pPr marL="457200" lvl="1" indent="0">
              <a:buNone/>
            </a:pPr>
            <a:endParaRPr lang="en-US" sz="1600" dirty="0">
              <a:latin typeface="Times New Roman" panose="02020603050405020304" pitchFamily="18" charset="0"/>
              <a:cs typeface="Times New Roman" panose="02020603050405020304" pitchFamily="18" charset="0"/>
            </a:endParaRPr>
          </a:p>
          <a:p>
            <a:pPr>
              <a:buFont typeface="+mj-lt"/>
              <a:buAutoNum type="arabicPeriod"/>
            </a:pPr>
            <a:r>
              <a:rPr lang="en-US" sz="1600" b="1" dirty="0">
                <a:latin typeface="Times New Roman" panose="02020603050405020304" pitchFamily="18" charset="0"/>
                <a:cs typeface="Times New Roman" panose="02020603050405020304" pitchFamily="18" charset="0"/>
              </a:rPr>
              <a:t>Multilingual Support:</a:t>
            </a:r>
          </a:p>
          <a:p>
            <a:pPr marL="457200" lvl="1" indent="0">
              <a:buNone/>
            </a:pPr>
            <a:r>
              <a:rPr lang="en-US" sz="1600" dirty="0">
                <a:latin typeface="Times New Roman" panose="02020603050405020304" pitchFamily="18" charset="0"/>
                <a:cs typeface="Times New Roman" panose="02020603050405020304" pitchFamily="18" charset="0"/>
              </a:rPr>
              <a:t>Enables users from different linguistic backgrounds to access web content in their native language..</a:t>
            </a:r>
          </a:p>
          <a:p>
            <a:pPr marL="457200" lvl="1" indent="0">
              <a:buNone/>
            </a:pPr>
            <a:endParaRPr lang="en-US" sz="1600" dirty="0">
              <a:latin typeface="Times New Roman" panose="02020603050405020304" pitchFamily="18" charset="0"/>
              <a:cs typeface="Times New Roman" panose="02020603050405020304" pitchFamily="18" charset="0"/>
            </a:endParaRPr>
          </a:p>
          <a:p>
            <a:pPr>
              <a:buFont typeface="+mj-lt"/>
              <a:buAutoNum type="arabicPeriod"/>
            </a:pPr>
            <a:r>
              <a:rPr lang="en-US" sz="1600" b="1" dirty="0">
                <a:latin typeface="Times New Roman" panose="02020603050405020304" pitchFamily="18" charset="0"/>
                <a:cs typeface="Times New Roman" panose="02020603050405020304" pitchFamily="18" charset="0"/>
              </a:rPr>
              <a:t>Integrated Output:</a:t>
            </a:r>
          </a:p>
          <a:p>
            <a:pPr marL="457200" lvl="1" indent="0">
              <a:buNone/>
            </a:pPr>
            <a:r>
              <a:rPr lang="en-US" sz="1600" dirty="0">
                <a:latin typeface="Times New Roman" panose="02020603050405020304" pitchFamily="18" charset="0"/>
                <a:cs typeface="Times New Roman" panose="02020603050405020304" pitchFamily="18" charset="0"/>
              </a:rPr>
              <a:t>Provides multiple output formats (text, Braille, and audio) for flexibility and ease of use.</a:t>
            </a:r>
          </a:p>
          <a:p>
            <a:pPr marL="457200" lvl="1" indent="0">
              <a:buNone/>
            </a:pPr>
            <a:endParaRPr lang="en-US" sz="1600" dirty="0">
              <a:latin typeface="Times New Roman" panose="02020603050405020304" pitchFamily="18" charset="0"/>
              <a:cs typeface="Times New Roman" panose="02020603050405020304" pitchFamily="18" charset="0"/>
            </a:endParaRPr>
          </a:p>
          <a:p>
            <a:pPr>
              <a:buFont typeface="+mj-lt"/>
              <a:buAutoNum type="arabicPeriod"/>
            </a:pPr>
            <a:r>
              <a:rPr lang="en-US" sz="1600" b="1" dirty="0">
                <a:latin typeface="Times New Roman" panose="02020603050405020304" pitchFamily="18" charset="0"/>
                <a:cs typeface="Times New Roman" panose="02020603050405020304" pitchFamily="18" charset="0"/>
              </a:rPr>
              <a:t>Cost-Effective:</a:t>
            </a:r>
          </a:p>
          <a:p>
            <a:pPr marL="457200" lvl="1" indent="0">
              <a:buNone/>
            </a:pPr>
            <a:r>
              <a:rPr lang="en-US" sz="1600" dirty="0">
                <a:latin typeface="Times New Roman" panose="02020603050405020304" pitchFamily="18" charset="0"/>
                <a:cs typeface="Times New Roman" panose="02020603050405020304" pitchFamily="18" charset="0"/>
              </a:rPr>
              <a:t>Utilizes open-source libraries and readily available tools to eliminate the need for expensive hardware or software.</a:t>
            </a:r>
          </a:p>
          <a:p>
            <a:pPr>
              <a:buFont typeface="+mj-lt"/>
              <a:buAutoNum type="arabicPeriod"/>
            </a:pPr>
            <a:endParaRPr lang="en-US" sz="1600" b="1" dirty="0">
              <a:latin typeface="Times New Roman" panose="02020603050405020304" pitchFamily="18" charset="0"/>
              <a:cs typeface="Times New Roman" panose="02020603050405020304" pitchFamily="18" charset="0"/>
            </a:endParaRPr>
          </a:p>
          <a:p>
            <a:pPr>
              <a:buFont typeface="+mj-lt"/>
              <a:buAutoNum type="arabicPeriod"/>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5349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1143000"/>
          </a:xfrm>
        </p:spPr>
        <p:txBody>
          <a:bodyPr/>
          <a:lstStyle/>
          <a:p>
            <a:r>
              <a:rPr lang="en-IN" dirty="0">
                <a:latin typeface="Times New Roman" panose="02020603050405020304" pitchFamily="18" charset="0"/>
                <a:cs typeface="Times New Roman" panose="02020603050405020304" pitchFamily="18" charset="0"/>
              </a:rPr>
              <a:t>LITERATURE SURVEY</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667463473"/>
              </p:ext>
            </p:extLst>
          </p:nvPr>
        </p:nvGraphicFramePr>
        <p:xfrm>
          <a:off x="0" y="890116"/>
          <a:ext cx="9175102" cy="5663084"/>
        </p:xfrm>
        <a:graphic>
          <a:graphicData uri="http://schemas.openxmlformats.org/drawingml/2006/table">
            <a:tbl>
              <a:tblPr firstRow="1" bandRow="1">
                <a:tableStyleId>{F5AB1C69-6EDB-4FF4-983F-18BD219EF322}</a:tableStyleId>
              </a:tblPr>
              <a:tblGrid>
                <a:gridCol w="1148486">
                  <a:extLst>
                    <a:ext uri="{9D8B030D-6E8A-4147-A177-3AD203B41FA5}">
                      <a16:colId xmlns:a16="http://schemas.microsoft.com/office/drawing/2014/main" val="20000"/>
                    </a:ext>
                  </a:extLst>
                </a:gridCol>
                <a:gridCol w="1577598">
                  <a:extLst>
                    <a:ext uri="{9D8B030D-6E8A-4147-A177-3AD203B41FA5}">
                      <a16:colId xmlns:a16="http://schemas.microsoft.com/office/drawing/2014/main" val="20001"/>
                    </a:ext>
                  </a:extLst>
                </a:gridCol>
                <a:gridCol w="1953217">
                  <a:extLst>
                    <a:ext uri="{9D8B030D-6E8A-4147-A177-3AD203B41FA5}">
                      <a16:colId xmlns:a16="http://schemas.microsoft.com/office/drawing/2014/main" val="20002"/>
                    </a:ext>
                  </a:extLst>
                </a:gridCol>
                <a:gridCol w="1477433">
                  <a:extLst>
                    <a:ext uri="{9D8B030D-6E8A-4147-A177-3AD203B41FA5}">
                      <a16:colId xmlns:a16="http://schemas.microsoft.com/office/drawing/2014/main" val="20003"/>
                    </a:ext>
                  </a:extLst>
                </a:gridCol>
                <a:gridCol w="1477433">
                  <a:extLst>
                    <a:ext uri="{9D8B030D-6E8A-4147-A177-3AD203B41FA5}">
                      <a16:colId xmlns:a16="http://schemas.microsoft.com/office/drawing/2014/main" val="20004"/>
                    </a:ext>
                  </a:extLst>
                </a:gridCol>
                <a:gridCol w="1540935">
                  <a:extLst>
                    <a:ext uri="{9D8B030D-6E8A-4147-A177-3AD203B41FA5}">
                      <a16:colId xmlns:a16="http://schemas.microsoft.com/office/drawing/2014/main" val="20005"/>
                    </a:ext>
                  </a:extLst>
                </a:gridCol>
              </a:tblGrid>
              <a:tr h="248927">
                <a:tc>
                  <a:txBody>
                    <a:bodyPr/>
                    <a:lstStyle/>
                    <a:p>
                      <a:r>
                        <a:rPr lang="en-IN" sz="1000" dirty="0">
                          <a:latin typeface="Times New Roman" panose="02020603050405020304" pitchFamily="18" charset="0"/>
                          <a:cs typeface="Times New Roman" panose="02020603050405020304" pitchFamily="18" charset="0"/>
                        </a:rPr>
                        <a:t>YEAR</a:t>
                      </a:r>
                    </a:p>
                  </a:txBody>
                  <a:tcPr/>
                </a:tc>
                <a:tc>
                  <a:txBody>
                    <a:bodyPr/>
                    <a:lstStyle/>
                    <a:p>
                      <a:r>
                        <a:rPr lang="en-IN" sz="1000">
                          <a:latin typeface="Times New Roman" panose="02020603050405020304" pitchFamily="18" charset="0"/>
                          <a:cs typeface="Times New Roman" panose="02020603050405020304" pitchFamily="18" charset="0"/>
                        </a:rPr>
                        <a:t>PAPER TITLE</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IN" sz="1000">
                          <a:latin typeface="Times New Roman" panose="02020603050405020304" pitchFamily="18" charset="0"/>
                          <a:cs typeface="Times New Roman" panose="02020603050405020304" pitchFamily="18" charset="0"/>
                        </a:rPr>
                        <a:t>METHODOLOGY</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IN" sz="1000">
                          <a:latin typeface="Times New Roman" panose="02020603050405020304" pitchFamily="18" charset="0"/>
                          <a:cs typeface="Times New Roman" panose="02020603050405020304" pitchFamily="18" charset="0"/>
                        </a:rPr>
                        <a:t>ADVANTAGES</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IN" sz="1000">
                          <a:latin typeface="Times New Roman" panose="02020603050405020304" pitchFamily="18" charset="0"/>
                          <a:cs typeface="Times New Roman" panose="02020603050405020304" pitchFamily="18" charset="0"/>
                        </a:rPr>
                        <a:t>LIMITATIONS</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IN" sz="1000" dirty="0">
                          <a:latin typeface="Times New Roman" panose="02020603050405020304" pitchFamily="18" charset="0"/>
                          <a:cs typeface="Times New Roman" panose="02020603050405020304" pitchFamily="18" charset="0"/>
                        </a:rPr>
                        <a:t>FUTURE SCOPE</a:t>
                      </a:r>
                    </a:p>
                  </a:txBody>
                  <a:tcPr/>
                </a:tc>
                <a:extLst>
                  <a:ext uri="{0D108BD9-81ED-4DB2-BD59-A6C34878D82A}">
                    <a16:rowId xmlns:a16="http://schemas.microsoft.com/office/drawing/2014/main" val="10000"/>
                  </a:ext>
                </a:extLst>
              </a:tr>
              <a:tr h="3204932">
                <a:tc>
                  <a:txBody>
                    <a:bodyPr/>
                    <a:lstStyle/>
                    <a:p>
                      <a:r>
                        <a:rPr lang="en-US" sz="1000" dirty="0">
                          <a:latin typeface="Times New Roman" panose="02020603050405020304" pitchFamily="18" charset="0"/>
                          <a:cs typeface="Times New Roman" panose="02020603050405020304" pitchFamily="18" charset="0"/>
                        </a:rPr>
                        <a:t>2</a:t>
                      </a:r>
                      <a:r>
                        <a:rPr lang="en-IN" sz="1000" dirty="0">
                          <a:latin typeface="Times New Roman" panose="02020603050405020304" pitchFamily="18" charset="0"/>
                          <a:cs typeface="Times New Roman" panose="02020603050405020304" pitchFamily="18" charset="0"/>
                        </a:rPr>
                        <a:t>024</a:t>
                      </a:r>
                    </a:p>
                  </a:txBody>
                  <a:tcPr/>
                </a:tc>
                <a:tc>
                  <a:txBody>
                    <a:bodyPr/>
                    <a:lstStyle/>
                    <a:p>
                      <a:r>
                        <a:rPr lang="en-US" sz="1000" dirty="0">
                          <a:latin typeface="Times New Roman" panose="02020603050405020304" pitchFamily="18" charset="0"/>
                          <a:cs typeface="Times New Roman" panose="02020603050405020304" pitchFamily="18" charset="0"/>
                        </a:rPr>
                        <a:t>Integrating the OCR technology, Braille displays, and the IoT, this paper introduces a concept leading the way for a paradigm shift in the lives of people with visual impairments and deaf blindness in our quickly evolving contemporary world. This study enhances assistive technology by combining it with the IoT, intending to empower persons with visual impairments and deaf-blindness. </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b="0" i="0" kern="1200" dirty="0">
                          <a:solidFill>
                            <a:schemeClr val="dk1"/>
                          </a:solidFill>
                          <a:effectLst/>
                          <a:latin typeface="Times New Roman" panose="02020603050405020304" pitchFamily="18" charset="0"/>
                          <a:ea typeface="+mn-ea"/>
                          <a:cs typeface="Times New Roman" panose="02020603050405020304" pitchFamily="18" charset="0"/>
                        </a:rPr>
                        <a:t>The methodology section is a thorough breakdown of the approaches and strategies used to create our IoT-connected OCR-Braille application, outlining significant processes from information gathering to Braille translation integration. Gives a thorough overview of the process in our OCR-Braille program and illustrates how different parts integrate to allow people with visual impairments and deaf-blind people to access information in real-time. </a:t>
                      </a:r>
                      <a:endParaRPr lang="en-IN" sz="1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Times New Roman" panose="02020603050405020304" pitchFamily="18" charset="0"/>
                          <a:cs typeface="Times New Roman" panose="02020603050405020304" pitchFamily="18" charset="0"/>
                        </a:rPr>
                        <a:t>These metrics accuracy, recall, F1 score, and error rate offer a quantitative and insightful view into the models' capabilities.</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In essence, even while our current research has a considerable impact on the accessibility and assistive technology fields, its reach is not exhaustive. The OCR-Braille has the potential to be improved upon and its reach increased in the future directions outlined, including sophisticated IoT connectivity. </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Accessibility could be further improved by including audio assistance for the blind in the IoT networking framework. Another area for development is the Braille translation algorithm's refinement to account for linguistic peculiarities and subtleties in different languages. The application's global impact can be increased by ensuring compatibility with a wider array of Braille display devices and increasing language support to include more languages.</a:t>
                      </a:r>
                      <a:endParaRPr lang="en-IN"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1960298">
                <a:tc>
                  <a:txBody>
                    <a:bodyPr/>
                    <a:lstStyle/>
                    <a:p>
                      <a:r>
                        <a:rPr lang="en-IN" sz="1000" dirty="0">
                          <a:latin typeface="Times New Roman" panose="02020603050405020304" pitchFamily="18" charset="0"/>
                          <a:cs typeface="Times New Roman" panose="02020603050405020304" pitchFamily="18" charset="0"/>
                        </a:rPr>
                        <a:t>2024</a:t>
                      </a:r>
                    </a:p>
                  </a:txBody>
                  <a:tcPr/>
                </a:tc>
                <a:tc>
                  <a:txBody>
                    <a:bodyPr/>
                    <a:lstStyle/>
                    <a:p>
                      <a:r>
                        <a:rPr lang="en-US" sz="1000" dirty="0">
                          <a:latin typeface="Times New Roman" panose="02020603050405020304" pitchFamily="18" charset="0"/>
                          <a:cs typeface="Times New Roman" panose="02020603050405020304" pitchFamily="18" charset="0"/>
                        </a:rPr>
                        <a:t>The education of visually impaired children remains a focal topic, and the implementation of Braille–Chinese translation can facilitate improved understanding and learning of Braille for these children. Braille–Chinese translation refers to the conversion of Braille text into Chinese characters. </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we will introduce three implementation methods of low-resource Braille–Chinese translation based on pre-trained and jointly trained language models</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improving the traditional Chinese–Braille translation approach, the paper also devises a novel implementation pattern for Braille phoneme recognition based on the phonemic characteristics of Chinese Braille and in conjunction with pre-trained language models.</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To develop a universal model in the domain of Braille with limited data, we proposed a Braille joint training method. </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NONE</a:t>
                      </a:r>
                      <a:endParaRPr lang="en-IN"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248927">
                <a:tc>
                  <a:txBody>
                    <a:bodyPr/>
                    <a:lstStyle/>
                    <a:p>
                      <a:endParaRPr lang="en-IN" sz="1000">
                        <a:latin typeface="Times New Roman" panose="02020603050405020304" pitchFamily="18" charset="0"/>
                        <a:cs typeface="Times New Roman" panose="02020603050405020304" pitchFamily="18" charset="0"/>
                      </a:endParaRPr>
                    </a:p>
                  </a:txBody>
                  <a:tcPr/>
                </a:tc>
                <a:tc>
                  <a:txBody>
                    <a:bodyPr/>
                    <a:lstStyle/>
                    <a:p>
                      <a:endParaRPr lang="en-IN" sz="1000">
                        <a:latin typeface="Times New Roman" panose="02020603050405020304" pitchFamily="18" charset="0"/>
                        <a:cs typeface="Times New Roman" panose="02020603050405020304" pitchFamily="18" charset="0"/>
                      </a:endParaRPr>
                    </a:p>
                  </a:txBody>
                  <a:tcPr/>
                </a:tc>
                <a:tc>
                  <a:txBody>
                    <a:bodyPr/>
                    <a:lstStyle/>
                    <a:p>
                      <a:endParaRPr lang="en-IN" sz="1000" dirty="0">
                        <a:latin typeface="Times New Roman" panose="02020603050405020304" pitchFamily="18" charset="0"/>
                        <a:cs typeface="Times New Roman" panose="02020603050405020304" pitchFamily="18" charset="0"/>
                      </a:endParaRPr>
                    </a:p>
                  </a:txBody>
                  <a:tcPr/>
                </a:tc>
                <a:tc>
                  <a:txBody>
                    <a:bodyPr/>
                    <a:lstStyle/>
                    <a:p>
                      <a:endParaRPr lang="en-IN" sz="1000">
                        <a:latin typeface="Times New Roman" panose="02020603050405020304" pitchFamily="18" charset="0"/>
                        <a:cs typeface="Times New Roman" panose="02020603050405020304" pitchFamily="18" charset="0"/>
                      </a:endParaRPr>
                    </a:p>
                  </a:txBody>
                  <a:tcPr/>
                </a:tc>
                <a:tc>
                  <a:txBody>
                    <a:bodyPr/>
                    <a:lstStyle/>
                    <a:p>
                      <a:endParaRPr lang="en-IN" sz="1000">
                        <a:latin typeface="Times New Roman" panose="02020603050405020304" pitchFamily="18" charset="0"/>
                        <a:cs typeface="Times New Roman" panose="02020603050405020304" pitchFamily="18" charset="0"/>
                      </a:endParaRPr>
                    </a:p>
                  </a:txBody>
                  <a:tcPr/>
                </a:tc>
                <a:tc>
                  <a:txBody>
                    <a:bodyPr/>
                    <a:lstStyle/>
                    <a:p>
                      <a:endParaRPr lang="en-IN"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847835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58DE5-8BD5-964C-7027-2EAE1B5FF2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36A0E9-F685-E904-2997-DC387D3A5024}"/>
              </a:ext>
            </a:extLst>
          </p:cNvPr>
          <p:cNvSpPr>
            <a:spLocks noGrp="1"/>
          </p:cNvSpPr>
          <p:nvPr>
            <p:ph type="title"/>
          </p:nvPr>
        </p:nvSpPr>
        <p:spPr>
          <a:xfrm>
            <a:off x="381000" y="-228600"/>
            <a:ext cx="8229600" cy="1143000"/>
          </a:xfrm>
        </p:spPr>
        <p:txBody>
          <a:bodyPr/>
          <a:lstStyle/>
          <a:p>
            <a:r>
              <a:rPr lang="en-IN" dirty="0">
                <a:latin typeface="Times New Roman" panose="02020603050405020304" pitchFamily="18" charset="0"/>
                <a:cs typeface="Times New Roman" panose="02020603050405020304" pitchFamily="18" charset="0"/>
              </a:rPr>
              <a:t>LITERATURE SURVEY</a:t>
            </a:r>
          </a:p>
        </p:txBody>
      </p:sp>
      <p:graphicFrame>
        <p:nvGraphicFramePr>
          <p:cNvPr id="4" name="Content Placeholder 3">
            <a:extLst>
              <a:ext uri="{FF2B5EF4-FFF2-40B4-BE49-F238E27FC236}">
                <a16:creationId xmlns:a16="http://schemas.microsoft.com/office/drawing/2014/main" id="{AD70CF5A-ABE4-C3CD-8B24-A7F73B75E9F8}"/>
              </a:ext>
            </a:extLst>
          </p:cNvPr>
          <p:cNvGraphicFramePr>
            <a:graphicFrameLocks noGrp="1"/>
          </p:cNvGraphicFramePr>
          <p:nvPr>
            <p:ph idx="1"/>
            <p:extLst>
              <p:ext uri="{D42A27DB-BD31-4B8C-83A1-F6EECF244321}">
                <p14:modId xmlns:p14="http://schemas.microsoft.com/office/powerpoint/2010/main" val="2669227007"/>
              </p:ext>
            </p:extLst>
          </p:nvPr>
        </p:nvGraphicFramePr>
        <p:xfrm>
          <a:off x="0" y="754366"/>
          <a:ext cx="9175102" cy="5798833"/>
        </p:xfrm>
        <a:graphic>
          <a:graphicData uri="http://schemas.openxmlformats.org/drawingml/2006/table">
            <a:tbl>
              <a:tblPr firstRow="1" bandRow="1">
                <a:tableStyleId>{F5AB1C69-6EDB-4FF4-983F-18BD219EF322}</a:tableStyleId>
              </a:tblPr>
              <a:tblGrid>
                <a:gridCol w="1148486">
                  <a:extLst>
                    <a:ext uri="{9D8B030D-6E8A-4147-A177-3AD203B41FA5}">
                      <a16:colId xmlns:a16="http://schemas.microsoft.com/office/drawing/2014/main" val="20000"/>
                    </a:ext>
                  </a:extLst>
                </a:gridCol>
                <a:gridCol w="1577598">
                  <a:extLst>
                    <a:ext uri="{9D8B030D-6E8A-4147-A177-3AD203B41FA5}">
                      <a16:colId xmlns:a16="http://schemas.microsoft.com/office/drawing/2014/main" val="20001"/>
                    </a:ext>
                  </a:extLst>
                </a:gridCol>
                <a:gridCol w="1953217">
                  <a:extLst>
                    <a:ext uri="{9D8B030D-6E8A-4147-A177-3AD203B41FA5}">
                      <a16:colId xmlns:a16="http://schemas.microsoft.com/office/drawing/2014/main" val="20002"/>
                    </a:ext>
                  </a:extLst>
                </a:gridCol>
                <a:gridCol w="1477433">
                  <a:extLst>
                    <a:ext uri="{9D8B030D-6E8A-4147-A177-3AD203B41FA5}">
                      <a16:colId xmlns:a16="http://schemas.microsoft.com/office/drawing/2014/main" val="20003"/>
                    </a:ext>
                  </a:extLst>
                </a:gridCol>
                <a:gridCol w="1477433">
                  <a:extLst>
                    <a:ext uri="{9D8B030D-6E8A-4147-A177-3AD203B41FA5}">
                      <a16:colId xmlns:a16="http://schemas.microsoft.com/office/drawing/2014/main" val="20004"/>
                    </a:ext>
                  </a:extLst>
                </a:gridCol>
                <a:gridCol w="1540935">
                  <a:extLst>
                    <a:ext uri="{9D8B030D-6E8A-4147-A177-3AD203B41FA5}">
                      <a16:colId xmlns:a16="http://schemas.microsoft.com/office/drawing/2014/main" val="20005"/>
                    </a:ext>
                  </a:extLst>
                </a:gridCol>
              </a:tblGrid>
              <a:tr h="360884">
                <a:tc>
                  <a:txBody>
                    <a:bodyPr/>
                    <a:lstStyle/>
                    <a:p>
                      <a:r>
                        <a:rPr lang="en-IN" sz="1000" dirty="0">
                          <a:latin typeface="Times New Roman" panose="02020603050405020304" pitchFamily="18" charset="0"/>
                          <a:cs typeface="Times New Roman" panose="02020603050405020304" pitchFamily="18" charset="0"/>
                        </a:rPr>
                        <a:t>YEAR</a:t>
                      </a:r>
                    </a:p>
                  </a:txBody>
                  <a:tcPr/>
                </a:tc>
                <a:tc>
                  <a:txBody>
                    <a:bodyPr/>
                    <a:lstStyle/>
                    <a:p>
                      <a:r>
                        <a:rPr lang="en-IN" sz="1000">
                          <a:latin typeface="Times New Roman" panose="02020603050405020304" pitchFamily="18" charset="0"/>
                          <a:cs typeface="Times New Roman" panose="02020603050405020304" pitchFamily="18" charset="0"/>
                        </a:rPr>
                        <a:t>PAPER TITLE</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IN" sz="1000">
                          <a:latin typeface="Times New Roman" panose="02020603050405020304" pitchFamily="18" charset="0"/>
                          <a:cs typeface="Times New Roman" panose="02020603050405020304" pitchFamily="18" charset="0"/>
                        </a:rPr>
                        <a:t>METHODOLOGY</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IN" sz="1000">
                          <a:latin typeface="Times New Roman" panose="02020603050405020304" pitchFamily="18" charset="0"/>
                          <a:cs typeface="Times New Roman" panose="02020603050405020304" pitchFamily="18" charset="0"/>
                        </a:rPr>
                        <a:t>ADVANTAGES</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IN" sz="1000">
                          <a:latin typeface="Times New Roman" panose="02020603050405020304" pitchFamily="18" charset="0"/>
                          <a:cs typeface="Times New Roman" panose="02020603050405020304" pitchFamily="18" charset="0"/>
                        </a:rPr>
                        <a:t>LIMITATIONS</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IN" sz="1000" dirty="0">
                          <a:latin typeface="Times New Roman" panose="02020603050405020304" pitchFamily="18" charset="0"/>
                          <a:cs typeface="Times New Roman" panose="02020603050405020304" pitchFamily="18" charset="0"/>
                        </a:rPr>
                        <a:t>FUTURE SCOPE</a:t>
                      </a:r>
                    </a:p>
                  </a:txBody>
                  <a:tcPr/>
                </a:tc>
                <a:extLst>
                  <a:ext uri="{0D108BD9-81ED-4DB2-BD59-A6C34878D82A}">
                    <a16:rowId xmlns:a16="http://schemas.microsoft.com/office/drawing/2014/main" val="10000"/>
                  </a:ext>
                </a:extLst>
              </a:tr>
              <a:tr h="3006385">
                <a:tc>
                  <a:txBody>
                    <a:bodyPr/>
                    <a:lstStyle/>
                    <a:p>
                      <a:r>
                        <a:rPr lang="en-US" sz="1000" dirty="0">
                          <a:latin typeface="Times New Roman" panose="02020603050405020304" pitchFamily="18" charset="0"/>
                          <a:cs typeface="Times New Roman" panose="02020603050405020304" pitchFamily="18" charset="0"/>
                        </a:rPr>
                        <a:t>2</a:t>
                      </a:r>
                      <a:r>
                        <a:rPr lang="en-IN" sz="1000" dirty="0">
                          <a:latin typeface="Times New Roman" panose="02020603050405020304" pitchFamily="18" charset="0"/>
                          <a:cs typeface="Times New Roman" panose="02020603050405020304" pitchFamily="18" charset="0"/>
                        </a:rPr>
                        <a:t>024</a:t>
                      </a:r>
                    </a:p>
                  </a:txBody>
                  <a:tcPr/>
                </a:tc>
                <a:tc>
                  <a:txBody>
                    <a:bodyPr/>
                    <a:lstStyle/>
                    <a:p>
                      <a:r>
                        <a:rPr lang="en-US" sz="1000" dirty="0">
                          <a:latin typeface="Times New Roman" panose="02020603050405020304" pitchFamily="18" charset="0"/>
                          <a:cs typeface="Times New Roman" panose="02020603050405020304" pitchFamily="18" charset="0"/>
                        </a:rPr>
                        <a:t>English to Arabic Braille Neural Machine Translation Through Corpus Augmentation</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For training the two NMT models (Baseline and Corpus Augmented) we performed some common steps. Text Preprocessing, Sub Wording </a:t>
                      </a:r>
                      <a:endParaRPr lang="en-IN" sz="1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Times New Roman" panose="02020603050405020304" pitchFamily="18" charset="0"/>
                          <a:cs typeface="Times New Roman" panose="02020603050405020304" pitchFamily="18" charset="0"/>
                        </a:rPr>
                        <a:t>The trained models were evaluated on 2000 sentences where a set of 1000 sentences were taken from the training corpus and another set of 1000 sentences were taken afresh. </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hopefully improve the quality of translations.</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English to Arabic Braille Neural Machine Translation system. We developed two NMT models, the first was a baseline model that used only the hyperparameters and the other model, a corpus-augmented model, where the corpus was first syntactically processed and then was sent to the NMT for training using the same hyperparameters used in baseline training.</a:t>
                      </a:r>
                      <a:endParaRPr lang="en-IN"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1809152">
                <a:tc>
                  <a:txBody>
                    <a:bodyPr/>
                    <a:lstStyle/>
                    <a:p>
                      <a:r>
                        <a:rPr lang="en-IN" sz="1000" dirty="0">
                          <a:latin typeface="Times New Roman" panose="02020603050405020304" pitchFamily="18" charset="0"/>
                          <a:cs typeface="Times New Roman" panose="02020603050405020304" pitchFamily="18" charset="0"/>
                        </a:rPr>
                        <a:t>2024</a:t>
                      </a:r>
                    </a:p>
                  </a:txBody>
                  <a:tcPr/>
                </a:tc>
                <a:tc>
                  <a:txBody>
                    <a:bodyPr/>
                    <a:lstStyle/>
                    <a:p>
                      <a:r>
                        <a:rPr lang="en-US" sz="1000" dirty="0">
                          <a:latin typeface="Times New Roman" panose="02020603050405020304" pitchFamily="18" charset="0"/>
                          <a:cs typeface="Times New Roman" panose="02020603050405020304" pitchFamily="18" charset="0"/>
                        </a:rPr>
                        <a:t>Enhanced braille recognition based on piezoresistive and piezoelectric dual-mode tactile sensors</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IN" sz="1000" dirty="0">
                          <a:latin typeface="Times New Roman" panose="02020603050405020304" pitchFamily="18" charset="0"/>
                          <a:cs typeface="Times New Roman" panose="02020603050405020304" pitchFamily="18" charset="0"/>
                        </a:rPr>
                        <a:t> real-time and effective intelligent recognition of braille by flexible skin tactile sensor is realized by using random decision forest algorithm. Yan et al. [10] designed a magnetic tactile sensor, which uses an LSTM algorithm model to recognize braille characters with an accuracy of 97%. Liu et al. </a:t>
                      </a:r>
                    </a:p>
                  </a:txBody>
                  <a:tcPr/>
                </a:tc>
                <a:tc>
                  <a:txBody>
                    <a:bodyPr/>
                    <a:lstStyle/>
                    <a:p>
                      <a:r>
                        <a:rPr lang="en-US" sz="1000" dirty="0">
                          <a:latin typeface="Times New Roman" panose="02020603050405020304" pitchFamily="18" charset="0"/>
                          <a:cs typeface="Times New Roman" panose="02020603050405020304" pitchFamily="18" charset="0"/>
                        </a:rPr>
                        <a:t>The piezoelectric layer is made of PVDF piezoelectric material with good dynamic response</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The experiments of braille recognition under different speed and different direction was designed to realize braille recognition under different contact states</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Finally, the tactile sensor was put on the human hand, and the trained model can be used to help the blind to recognize braille.</a:t>
                      </a:r>
                      <a:endParaRPr lang="en-IN"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622412">
                <a:tc>
                  <a:txBody>
                    <a:bodyPr/>
                    <a:lstStyle/>
                    <a:p>
                      <a:endParaRPr lang="en-IN" sz="1000">
                        <a:latin typeface="Times New Roman" panose="02020603050405020304" pitchFamily="18" charset="0"/>
                        <a:cs typeface="Times New Roman" panose="02020603050405020304" pitchFamily="18" charset="0"/>
                      </a:endParaRPr>
                    </a:p>
                  </a:txBody>
                  <a:tcPr/>
                </a:tc>
                <a:tc>
                  <a:txBody>
                    <a:bodyPr/>
                    <a:lstStyle/>
                    <a:p>
                      <a:endParaRPr lang="en-IN" sz="1000">
                        <a:latin typeface="Times New Roman" panose="02020603050405020304" pitchFamily="18" charset="0"/>
                        <a:cs typeface="Times New Roman" panose="02020603050405020304" pitchFamily="18" charset="0"/>
                      </a:endParaRPr>
                    </a:p>
                  </a:txBody>
                  <a:tcPr/>
                </a:tc>
                <a:tc>
                  <a:txBody>
                    <a:bodyPr/>
                    <a:lstStyle/>
                    <a:p>
                      <a:endParaRPr lang="en-IN" sz="1000" dirty="0">
                        <a:latin typeface="Times New Roman" panose="02020603050405020304" pitchFamily="18" charset="0"/>
                        <a:cs typeface="Times New Roman" panose="02020603050405020304" pitchFamily="18" charset="0"/>
                      </a:endParaRPr>
                    </a:p>
                  </a:txBody>
                  <a:tcPr/>
                </a:tc>
                <a:tc>
                  <a:txBody>
                    <a:bodyPr/>
                    <a:lstStyle/>
                    <a:p>
                      <a:endParaRPr lang="en-IN" sz="1000">
                        <a:latin typeface="Times New Roman" panose="02020603050405020304" pitchFamily="18" charset="0"/>
                        <a:cs typeface="Times New Roman" panose="02020603050405020304" pitchFamily="18" charset="0"/>
                      </a:endParaRPr>
                    </a:p>
                  </a:txBody>
                  <a:tcPr/>
                </a:tc>
                <a:tc>
                  <a:txBody>
                    <a:bodyPr/>
                    <a:lstStyle/>
                    <a:p>
                      <a:endParaRPr lang="en-IN" sz="1000">
                        <a:latin typeface="Times New Roman" panose="02020603050405020304" pitchFamily="18" charset="0"/>
                        <a:cs typeface="Times New Roman" panose="02020603050405020304" pitchFamily="18" charset="0"/>
                      </a:endParaRPr>
                    </a:p>
                  </a:txBody>
                  <a:tcPr/>
                </a:tc>
                <a:tc>
                  <a:txBody>
                    <a:bodyPr/>
                    <a:lstStyle/>
                    <a:p>
                      <a:endParaRPr lang="en-IN"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8891008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C0257-2E33-20E1-2EB2-DFF87A325B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40AE56-5632-C9C4-0E27-89C29DB8631F}"/>
              </a:ext>
            </a:extLst>
          </p:cNvPr>
          <p:cNvSpPr>
            <a:spLocks noGrp="1"/>
          </p:cNvSpPr>
          <p:nvPr>
            <p:ph type="title"/>
          </p:nvPr>
        </p:nvSpPr>
        <p:spPr>
          <a:xfrm>
            <a:off x="381000" y="-228600"/>
            <a:ext cx="8229600" cy="1143000"/>
          </a:xfrm>
        </p:spPr>
        <p:txBody>
          <a:bodyPr/>
          <a:lstStyle/>
          <a:p>
            <a:r>
              <a:rPr lang="en-IN" dirty="0">
                <a:latin typeface="Times New Roman" panose="02020603050405020304" pitchFamily="18" charset="0"/>
                <a:cs typeface="Times New Roman" panose="02020603050405020304" pitchFamily="18" charset="0"/>
              </a:rPr>
              <a:t>LITERATURE SURVEY</a:t>
            </a:r>
          </a:p>
        </p:txBody>
      </p:sp>
      <p:graphicFrame>
        <p:nvGraphicFramePr>
          <p:cNvPr id="4" name="Content Placeholder 3">
            <a:extLst>
              <a:ext uri="{FF2B5EF4-FFF2-40B4-BE49-F238E27FC236}">
                <a16:creationId xmlns:a16="http://schemas.microsoft.com/office/drawing/2014/main" id="{AC1A1711-9B4E-B1B0-8C8F-E35CDCFCB3C5}"/>
              </a:ext>
            </a:extLst>
          </p:cNvPr>
          <p:cNvGraphicFramePr>
            <a:graphicFrameLocks noGrp="1"/>
          </p:cNvGraphicFramePr>
          <p:nvPr>
            <p:ph idx="1"/>
            <p:extLst>
              <p:ext uri="{D42A27DB-BD31-4B8C-83A1-F6EECF244321}">
                <p14:modId xmlns:p14="http://schemas.microsoft.com/office/powerpoint/2010/main" val="2859412313"/>
              </p:ext>
            </p:extLst>
          </p:nvPr>
        </p:nvGraphicFramePr>
        <p:xfrm>
          <a:off x="0" y="754366"/>
          <a:ext cx="9175102" cy="5842482"/>
        </p:xfrm>
        <a:graphic>
          <a:graphicData uri="http://schemas.openxmlformats.org/drawingml/2006/table">
            <a:tbl>
              <a:tblPr firstRow="1" bandRow="1">
                <a:tableStyleId>{F5AB1C69-6EDB-4FF4-983F-18BD219EF322}</a:tableStyleId>
              </a:tblPr>
              <a:tblGrid>
                <a:gridCol w="1148486">
                  <a:extLst>
                    <a:ext uri="{9D8B030D-6E8A-4147-A177-3AD203B41FA5}">
                      <a16:colId xmlns:a16="http://schemas.microsoft.com/office/drawing/2014/main" val="20000"/>
                    </a:ext>
                  </a:extLst>
                </a:gridCol>
                <a:gridCol w="1577598">
                  <a:extLst>
                    <a:ext uri="{9D8B030D-6E8A-4147-A177-3AD203B41FA5}">
                      <a16:colId xmlns:a16="http://schemas.microsoft.com/office/drawing/2014/main" val="20001"/>
                    </a:ext>
                  </a:extLst>
                </a:gridCol>
                <a:gridCol w="1953217">
                  <a:extLst>
                    <a:ext uri="{9D8B030D-6E8A-4147-A177-3AD203B41FA5}">
                      <a16:colId xmlns:a16="http://schemas.microsoft.com/office/drawing/2014/main" val="20002"/>
                    </a:ext>
                  </a:extLst>
                </a:gridCol>
                <a:gridCol w="1477433">
                  <a:extLst>
                    <a:ext uri="{9D8B030D-6E8A-4147-A177-3AD203B41FA5}">
                      <a16:colId xmlns:a16="http://schemas.microsoft.com/office/drawing/2014/main" val="20003"/>
                    </a:ext>
                  </a:extLst>
                </a:gridCol>
                <a:gridCol w="1477433">
                  <a:extLst>
                    <a:ext uri="{9D8B030D-6E8A-4147-A177-3AD203B41FA5}">
                      <a16:colId xmlns:a16="http://schemas.microsoft.com/office/drawing/2014/main" val="20004"/>
                    </a:ext>
                  </a:extLst>
                </a:gridCol>
                <a:gridCol w="1540935">
                  <a:extLst>
                    <a:ext uri="{9D8B030D-6E8A-4147-A177-3AD203B41FA5}">
                      <a16:colId xmlns:a16="http://schemas.microsoft.com/office/drawing/2014/main" val="20005"/>
                    </a:ext>
                  </a:extLst>
                </a:gridCol>
              </a:tblGrid>
              <a:tr h="327214">
                <a:tc>
                  <a:txBody>
                    <a:bodyPr/>
                    <a:lstStyle/>
                    <a:p>
                      <a:r>
                        <a:rPr lang="en-IN" sz="1000" dirty="0">
                          <a:latin typeface="Times New Roman" panose="02020603050405020304" pitchFamily="18" charset="0"/>
                          <a:cs typeface="Times New Roman" panose="02020603050405020304" pitchFamily="18" charset="0"/>
                        </a:rPr>
                        <a:t>YEAR</a:t>
                      </a:r>
                    </a:p>
                  </a:txBody>
                  <a:tcPr/>
                </a:tc>
                <a:tc>
                  <a:txBody>
                    <a:bodyPr/>
                    <a:lstStyle/>
                    <a:p>
                      <a:r>
                        <a:rPr lang="en-IN" sz="1000">
                          <a:latin typeface="Times New Roman" panose="02020603050405020304" pitchFamily="18" charset="0"/>
                          <a:cs typeface="Times New Roman" panose="02020603050405020304" pitchFamily="18" charset="0"/>
                        </a:rPr>
                        <a:t>PAPER TITLE</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IN" sz="1000">
                          <a:latin typeface="Times New Roman" panose="02020603050405020304" pitchFamily="18" charset="0"/>
                          <a:cs typeface="Times New Roman" panose="02020603050405020304" pitchFamily="18" charset="0"/>
                        </a:rPr>
                        <a:t>METHODOLOGY</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IN" sz="1000">
                          <a:latin typeface="Times New Roman" panose="02020603050405020304" pitchFamily="18" charset="0"/>
                          <a:cs typeface="Times New Roman" panose="02020603050405020304" pitchFamily="18" charset="0"/>
                        </a:rPr>
                        <a:t>ADVANTAGES</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IN" sz="1000">
                          <a:latin typeface="Times New Roman" panose="02020603050405020304" pitchFamily="18" charset="0"/>
                          <a:cs typeface="Times New Roman" panose="02020603050405020304" pitchFamily="18" charset="0"/>
                        </a:rPr>
                        <a:t>LIMITATIONS</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IN" sz="1000" dirty="0">
                          <a:latin typeface="Times New Roman" panose="02020603050405020304" pitchFamily="18" charset="0"/>
                          <a:cs typeface="Times New Roman" panose="02020603050405020304" pitchFamily="18" charset="0"/>
                        </a:rPr>
                        <a:t>FUTURE SCOPE</a:t>
                      </a:r>
                    </a:p>
                  </a:txBody>
                  <a:tcPr/>
                </a:tc>
                <a:extLst>
                  <a:ext uri="{0D108BD9-81ED-4DB2-BD59-A6C34878D82A}">
                    <a16:rowId xmlns:a16="http://schemas.microsoft.com/office/drawing/2014/main" val="10000"/>
                  </a:ext>
                </a:extLst>
              </a:tr>
              <a:tr h="2725888">
                <a:tc>
                  <a:txBody>
                    <a:bodyPr/>
                    <a:lstStyle/>
                    <a:p>
                      <a:r>
                        <a:rPr lang="en-US" sz="1000" dirty="0">
                          <a:latin typeface="Times New Roman" panose="02020603050405020304" pitchFamily="18" charset="0"/>
                          <a:cs typeface="Times New Roman" panose="02020603050405020304" pitchFamily="18" charset="0"/>
                        </a:rPr>
                        <a:t>2</a:t>
                      </a:r>
                      <a:r>
                        <a:rPr lang="en-IN" sz="1000" dirty="0">
                          <a:latin typeface="Times New Roman" panose="02020603050405020304" pitchFamily="18" charset="0"/>
                          <a:cs typeface="Times New Roman" panose="02020603050405020304" pitchFamily="18" charset="0"/>
                        </a:rPr>
                        <a:t>023</a:t>
                      </a:r>
                    </a:p>
                  </a:txBody>
                  <a:tcPr/>
                </a:tc>
                <a:tc>
                  <a:txBody>
                    <a:bodyPr/>
                    <a:lstStyle/>
                    <a:p>
                      <a:r>
                        <a:rPr lang="en-US" sz="1000" dirty="0">
                          <a:latin typeface="Times New Roman" panose="02020603050405020304" pitchFamily="18" charset="0"/>
                          <a:cs typeface="Times New Roman" panose="02020603050405020304" pitchFamily="18" charset="0"/>
                        </a:rPr>
                        <a:t>Artificial intelligence for visually impaired</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b="0" i="0" kern="1200" dirty="0">
                          <a:solidFill>
                            <a:schemeClr val="dk1"/>
                          </a:solidFill>
                          <a:effectLst/>
                          <a:latin typeface="Times New Roman" panose="02020603050405020304" pitchFamily="18" charset="0"/>
                          <a:ea typeface="+mn-ea"/>
                          <a:cs typeface="Times New Roman" panose="02020603050405020304" pitchFamily="18" charset="0"/>
                        </a:rPr>
                        <a:t>With huge technological advances in computer vision and deep learning, artificial intelligence is being used in medical imaging [51], [52], [53], [54], [55]. This is getting more attention as a novel treatment modality. The addition of AI methods in treating visual impairment has made doctors more accurate and faster in clinical screening, diagnosis, and prediction. In diagnosing eyes, fundus images are easily accessible and contain rich biological information, which is suitable as input datasets for CNN, GAN, and transfer learning.</a:t>
                      </a:r>
                      <a:endParaRPr lang="en-IN" sz="1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Times New Roman" panose="02020603050405020304" pitchFamily="18" charset="0"/>
                          <a:cs typeface="Times New Roman" panose="02020603050405020304" pitchFamily="18" charset="0"/>
                        </a:rPr>
                        <a:t>The special binding and paper quality make these Braille books stronger and more durable. Compared to ordinary print materials, Braille materials are few and far between.</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Due to their low vision, visually impaired people cannot access information by reading a text as regular people do, which is a serious problem they must face in the learning process. </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In the information age, people are spending multiples-time with their eyes than in the past decades. They increasingly depend on video display terminals such as computers and televisions for various activities [160], [161], [162].</a:t>
                      </a:r>
                      <a:endParaRPr lang="en-IN"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1640357">
                <a:tc>
                  <a:txBody>
                    <a:bodyPr/>
                    <a:lstStyle/>
                    <a:p>
                      <a:r>
                        <a:rPr lang="en-IN" sz="1000" dirty="0">
                          <a:latin typeface="Times New Roman" panose="02020603050405020304" pitchFamily="18" charset="0"/>
                          <a:cs typeface="Times New Roman" panose="02020603050405020304" pitchFamily="18" charset="0"/>
                        </a:rPr>
                        <a:t>2023</a:t>
                      </a:r>
                    </a:p>
                  </a:txBody>
                  <a:tcPr/>
                </a:tc>
                <a:tc>
                  <a:txBody>
                    <a:bodyPr/>
                    <a:lstStyle/>
                    <a:p>
                      <a:r>
                        <a:rPr lang="en-US" sz="1000" dirty="0">
                          <a:latin typeface="Times New Roman" panose="02020603050405020304" pitchFamily="18" charset="0"/>
                          <a:cs typeface="Times New Roman" panose="02020603050405020304" pitchFamily="18" charset="0"/>
                        </a:rPr>
                        <a:t>A Deep Learning-Based Recognition Approach for the Conversion of Multilingual Braille Images</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The development of OBR systems has been an active field of research for many years [4]. Existing OBR technologies that interpret the images of Braille into texts are expensive, non-portable, and outdated. These types of constraints apply to processes such as correcting Braille image for skewness in OBR [11,12] and preservation and reproduction of Braille documents for the blind [13].</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Shokat et al. [23] presented a comprehensive survey analysis of OBR methods. Hsu [4] proposed a CNN model for recognizing 37 English Braille symbols. The model achieved 98.73% accuracy on a dataset with 26,724 images.</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Limitations remain for the current state-of-the-art deep learning models and methods, and they cannot convert the Braille images effectively into multilingual texts or voices. These methods are not efficient for converting extensive lengths of Braille due to the use of line-by-line conversion.</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Currently, there is a lack of a Braille image dataset for foreign languages. In future work, we need to collect a large-scale dataset for more foreign languages and test our approach on this dataset.</a:t>
                      </a:r>
                      <a:endParaRPr lang="en-IN"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564340">
                <a:tc>
                  <a:txBody>
                    <a:bodyPr/>
                    <a:lstStyle/>
                    <a:p>
                      <a:endParaRPr lang="en-IN" sz="1000">
                        <a:latin typeface="Times New Roman" panose="02020603050405020304" pitchFamily="18" charset="0"/>
                        <a:cs typeface="Times New Roman" panose="02020603050405020304" pitchFamily="18" charset="0"/>
                      </a:endParaRPr>
                    </a:p>
                  </a:txBody>
                  <a:tcPr/>
                </a:tc>
                <a:tc>
                  <a:txBody>
                    <a:bodyPr/>
                    <a:lstStyle/>
                    <a:p>
                      <a:endParaRPr lang="en-IN" sz="1000">
                        <a:latin typeface="Times New Roman" panose="02020603050405020304" pitchFamily="18" charset="0"/>
                        <a:cs typeface="Times New Roman" panose="02020603050405020304" pitchFamily="18" charset="0"/>
                      </a:endParaRPr>
                    </a:p>
                  </a:txBody>
                  <a:tcPr/>
                </a:tc>
                <a:tc>
                  <a:txBody>
                    <a:bodyPr/>
                    <a:lstStyle/>
                    <a:p>
                      <a:endParaRPr lang="en-IN" sz="1000" dirty="0">
                        <a:latin typeface="Times New Roman" panose="02020603050405020304" pitchFamily="18" charset="0"/>
                        <a:cs typeface="Times New Roman" panose="02020603050405020304" pitchFamily="18" charset="0"/>
                      </a:endParaRPr>
                    </a:p>
                  </a:txBody>
                  <a:tcPr/>
                </a:tc>
                <a:tc>
                  <a:txBody>
                    <a:bodyPr/>
                    <a:lstStyle/>
                    <a:p>
                      <a:endParaRPr lang="en-IN" sz="1000">
                        <a:latin typeface="Times New Roman" panose="02020603050405020304" pitchFamily="18" charset="0"/>
                        <a:cs typeface="Times New Roman" panose="02020603050405020304" pitchFamily="18" charset="0"/>
                      </a:endParaRPr>
                    </a:p>
                  </a:txBody>
                  <a:tcPr/>
                </a:tc>
                <a:tc>
                  <a:txBody>
                    <a:bodyPr/>
                    <a:lstStyle/>
                    <a:p>
                      <a:endParaRPr lang="en-IN" sz="1000">
                        <a:latin typeface="Times New Roman" panose="02020603050405020304" pitchFamily="18" charset="0"/>
                        <a:cs typeface="Times New Roman" panose="02020603050405020304" pitchFamily="18" charset="0"/>
                      </a:endParaRPr>
                    </a:p>
                  </a:txBody>
                  <a:tcPr/>
                </a:tc>
                <a:tc>
                  <a:txBody>
                    <a:bodyPr/>
                    <a:lstStyle/>
                    <a:p>
                      <a:endParaRPr lang="en-IN"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1702451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E4780-F30D-63FF-0A90-C9792C2543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986797-DFE2-7F14-5220-7CD6D5F1E326}"/>
              </a:ext>
            </a:extLst>
          </p:cNvPr>
          <p:cNvSpPr>
            <a:spLocks noGrp="1"/>
          </p:cNvSpPr>
          <p:nvPr>
            <p:ph type="title"/>
          </p:nvPr>
        </p:nvSpPr>
        <p:spPr>
          <a:xfrm>
            <a:off x="381000" y="-228600"/>
            <a:ext cx="8229600" cy="1143000"/>
          </a:xfrm>
        </p:spPr>
        <p:txBody>
          <a:bodyPr/>
          <a:lstStyle/>
          <a:p>
            <a:r>
              <a:rPr lang="en-IN" dirty="0">
                <a:latin typeface="Times New Roman" panose="02020603050405020304" pitchFamily="18" charset="0"/>
                <a:cs typeface="Times New Roman" panose="02020603050405020304" pitchFamily="18" charset="0"/>
              </a:rPr>
              <a:t>LITERATURE SURVEY</a:t>
            </a:r>
          </a:p>
        </p:txBody>
      </p:sp>
      <p:graphicFrame>
        <p:nvGraphicFramePr>
          <p:cNvPr id="4" name="Content Placeholder 3">
            <a:extLst>
              <a:ext uri="{FF2B5EF4-FFF2-40B4-BE49-F238E27FC236}">
                <a16:creationId xmlns:a16="http://schemas.microsoft.com/office/drawing/2014/main" id="{E08AA561-E9F5-1A0D-D890-5CC467F26073}"/>
              </a:ext>
            </a:extLst>
          </p:cNvPr>
          <p:cNvGraphicFramePr>
            <a:graphicFrameLocks noGrp="1"/>
          </p:cNvGraphicFramePr>
          <p:nvPr>
            <p:ph idx="1"/>
            <p:extLst>
              <p:ext uri="{D42A27DB-BD31-4B8C-83A1-F6EECF244321}">
                <p14:modId xmlns:p14="http://schemas.microsoft.com/office/powerpoint/2010/main" val="557811295"/>
              </p:ext>
            </p:extLst>
          </p:nvPr>
        </p:nvGraphicFramePr>
        <p:xfrm>
          <a:off x="0" y="754366"/>
          <a:ext cx="9175102" cy="5784621"/>
        </p:xfrm>
        <a:graphic>
          <a:graphicData uri="http://schemas.openxmlformats.org/drawingml/2006/table">
            <a:tbl>
              <a:tblPr firstRow="1" bandRow="1">
                <a:tableStyleId>{F5AB1C69-6EDB-4FF4-983F-18BD219EF322}</a:tableStyleId>
              </a:tblPr>
              <a:tblGrid>
                <a:gridCol w="1148486">
                  <a:extLst>
                    <a:ext uri="{9D8B030D-6E8A-4147-A177-3AD203B41FA5}">
                      <a16:colId xmlns:a16="http://schemas.microsoft.com/office/drawing/2014/main" val="20000"/>
                    </a:ext>
                  </a:extLst>
                </a:gridCol>
                <a:gridCol w="1577598">
                  <a:extLst>
                    <a:ext uri="{9D8B030D-6E8A-4147-A177-3AD203B41FA5}">
                      <a16:colId xmlns:a16="http://schemas.microsoft.com/office/drawing/2014/main" val="20001"/>
                    </a:ext>
                  </a:extLst>
                </a:gridCol>
                <a:gridCol w="1953217">
                  <a:extLst>
                    <a:ext uri="{9D8B030D-6E8A-4147-A177-3AD203B41FA5}">
                      <a16:colId xmlns:a16="http://schemas.microsoft.com/office/drawing/2014/main" val="20002"/>
                    </a:ext>
                  </a:extLst>
                </a:gridCol>
                <a:gridCol w="1477433">
                  <a:extLst>
                    <a:ext uri="{9D8B030D-6E8A-4147-A177-3AD203B41FA5}">
                      <a16:colId xmlns:a16="http://schemas.microsoft.com/office/drawing/2014/main" val="20003"/>
                    </a:ext>
                  </a:extLst>
                </a:gridCol>
                <a:gridCol w="1477433">
                  <a:extLst>
                    <a:ext uri="{9D8B030D-6E8A-4147-A177-3AD203B41FA5}">
                      <a16:colId xmlns:a16="http://schemas.microsoft.com/office/drawing/2014/main" val="20004"/>
                    </a:ext>
                  </a:extLst>
                </a:gridCol>
                <a:gridCol w="1540935">
                  <a:extLst>
                    <a:ext uri="{9D8B030D-6E8A-4147-A177-3AD203B41FA5}">
                      <a16:colId xmlns:a16="http://schemas.microsoft.com/office/drawing/2014/main" val="20005"/>
                    </a:ext>
                  </a:extLst>
                </a:gridCol>
              </a:tblGrid>
              <a:tr h="308195">
                <a:tc>
                  <a:txBody>
                    <a:bodyPr/>
                    <a:lstStyle/>
                    <a:p>
                      <a:r>
                        <a:rPr lang="en-IN" sz="1000" dirty="0">
                          <a:latin typeface="Times New Roman" panose="02020603050405020304" pitchFamily="18" charset="0"/>
                          <a:cs typeface="Times New Roman" panose="02020603050405020304" pitchFamily="18" charset="0"/>
                        </a:rPr>
                        <a:t>YEAR</a:t>
                      </a:r>
                    </a:p>
                  </a:txBody>
                  <a:tcPr/>
                </a:tc>
                <a:tc>
                  <a:txBody>
                    <a:bodyPr/>
                    <a:lstStyle/>
                    <a:p>
                      <a:r>
                        <a:rPr lang="en-IN" sz="1000">
                          <a:latin typeface="Times New Roman" panose="02020603050405020304" pitchFamily="18" charset="0"/>
                          <a:cs typeface="Times New Roman" panose="02020603050405020304" pitchFamily="18" charset="0"/>
                        </a:rPr>
                        <a:t>PAPER TITLE</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IN" sz="1000">
                          <a:latin typeface="Times New Roman" panose="02020603050405020304" pitchFamily="18" charset="0"/>
                          <a:cs typeface="Times New Roman" panose="02020603050405020304" pitchFamily="18" charset="0"/>
                        </a:rPr>
                        <a:t>METHODOLOGY</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IN" sz="1000">
                          <a:latin typeface="Times New Roman" panose="02020603050405020304" pitchFamily="18" charset="0"/>
                          <a:cs typeface="Times New Roman" panose="02020603050405020304" pitchFamily="18" charset="0"/>
                        </a:rPr>
                        <a:t>ADVANTAGES</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IN" sz="1000">
                          <a:latin typeface="Times New Roman" panose="02020603050405020304" pitchFamily="18" charset="0"/>
                          <a:cs typeface="Times New Roman" panose="02020603050405020304" pitchFamily="18" charset="0"/>
                        </a:rPr>
                        <a:t>LIMITATIONS</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IN" sz="1000" dirty="0">
                          <a:latin typeface="Times New Roman" panose="02020603050405020304" pitchFamily="18" charset="0"/>
                          <a:cs typeface="Times New Roman" panose="02020603050405020304" pitchFamily="18" charset="0"/>
                        </a:rPr>
                        <a:t>FUTURE SCOPE</a:t>
                      </a:r>
                    </a:p>
                  </a:txBody>
                  <a:tcPr/>
                </a:tc>
                <a:extLst>
                  <a:ext uri="{0D108BD9-81ED-4DB2-BD59-A6C34878D82A}">
                    <a16:rowId xmlns:a16="http://schemas.microsoft.com/office/drawing/2014/main" val="10000"/>
                  </a:ext>
                </a:extLst>
              </a:tr>
              <a:tr h="2567448">
                <a:tc>
                  <a:txBody>
                    <a:bodyPr/>
                    <a:lstStyle/>
                    <a:p>
                      <a:r>
                        <a:rPr lang="en-US" sz="1000" dirty="0">
                          <a:latin typeface="Times New Roman" panose="02020603050405020304" pitchFamily="18" charset="0"/>
                          <a:cs typeface="Times New Roman" panose="02020603050405020304" pitchFamily="18" charset="0"/>
                        </a:rPr>
                        <a:t>2</a:t>
                      </a:r>
                      <a:r>
                        <a:rPr lang="en-IN" sz="1000" dirty="0">
                          <a:latin typeface="Times New Roman" panose="02020603050405020304" pitchFamily="18" charset="0"/>
                          <a:cs typeface="Times New Roman" panose="02020603050405020304" pitchFamily="18" charset="0"/>
                        </a:rPr>
                        <a:t>022</a:t>
                      </a:r>
                    </a:p>
                  </a:txBody>
                  <a:tcPr/>
                </a:tc>
                <a:tc>
                  <a:txBody>
                    <a:bodyPr/>
                    <a:lstStyle/>
                    <a:p>
                      <a:r>
                        <a:rPr lang="en-US" sz="1000" dirty="0">
                          <a:latin typeface="Times New Roman" panose="02020603050405020304" pitchFamily="18" charset="0"/>
                          <a:cs typeface="Times New Roman" panose="02020603050405020304" pitchFamily="18" charset="0"/>
                        </a:rPr>
                        <a:t>Automate extraction of braille text to speech from an image</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b="0" i="0" kern="1200" dirty="0">
                          <a:solidFill>
                            <a:schemeClr val="dk1"/>
                          </a:solidFill>
                          <a:effectLst/>
                          <a:latin typeface="Times New Roman" panose="02020603050405020304" pitchFamily="18" charset="0"/>
                          <a:ea typeface="+mn-ea"/>
                          <a:cs typeface="Times New Roman" panose="02020603050405020304" pitchFamily="18" charset="0"/>
                        </a:rPr>
                        <a:t>We utilize the Braille Character Database to prepare our model. This dataset contains pictures having a place with 26 unique classes. The absolute number of preparing pictures is 1560. To begin preparing measure we will utilize all pictures for preparing where every one of the pictures are of measurements 28 × 28 in BW Scale. </a:t>
                      </a:r>
                      <a:endParaRPr lang="en-IN" sz="1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Times New Roman" panose="02020603050405020304" pitchFamily="18" charset="0"/>
                          <a:cs typeface="Times New Roman" panose="02020603050405020304" pitchFamily="18" charset="0"/>
                        </a:rPr>
                        <a:t>Adam Optimizer (Adaptive Moment Estimation) is a versatile learning rate strategy that ascertains singular learning rates for various boundaries.</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In dealing with rotated character images where the Google and Microsoft OCR APIs only obtain 65% and 34% accuracy rates.</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The model suggested in this research paper is a modified custom CNN model that uses deep learning technologies for the classification of various braille characters. The model then uses these relevant features found out by multiple epochs of training to classify and find braille characters in any new image it obtains.</a:t>
                      </a:r>
                      <a:endParaRPr lang="en-IN"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2239253">
                <a:tc>
                  <a:txBody>
                    <a:bodyPr/>
                    <a:lstStyle/>
                    <a:p>
                      <a:r>
                        <a:rPr lang="en-IN" sz="1000" dirty="0">
                          <a:latin typeface="Times New Roman" panose="02020603050405020304" pitchFamily="18" charset="0"/>
                          <a:cs typeface="Times New Roman" panose="02020603050405020304" pitchFamily="18" charset="0"/>
                        </a:rPr>
                        <a:t>2022</a:t>
                      </a:r>
                    </a:p>
                  </a:txBody>
                  <a:tcPr/>
                </a:tc>
                <a:tc>
                  <a:txBody>
                    <a:bodyPr/>
                    <a:lstStyle/>
                    <a:p>
                      <a:r>
                        <a:rPr lang="en-US" sz="1000" dirty="0">
                          <a:latin typeface="Times New Roman" panose="02020603050405020304" pitchFamily="18" charset="0"/>
                          <a:cs typeface="Times New Roman" panose="02020603050405020304" pitchFamily="18" charset="0"/>
                        </a:rPr>
                        <a:t>Image processing-based braille document copying system as additional feature for ITS’s braille printer</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Braille translation is done by contour search to obtain information on each black dot. For each contour obtained, a filter is performed to remove the remaining noise from the image processing result. Furthermore, the contour information is used to determine each coordinate of every braille dots. </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The printing result is then compared with the source document. From 312 letters, it successfully duplicates 311 letters correctly and the accuracy is 99.68 %.</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The source document is then photographed with a mobile application that has been made for translation. Translation results are then sent to the add-on device and it command the printer to print document based on received data</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On this research can be concluded that from 25 testing data with variety of spaces between letters, translation accuracy reaches 99%. Whole system testing was also done with end-to-end use case to show that the system can duplicate/copy braille documents. So that, braille document can be duplicated with the product of this research with accuracy of 99%..</a:t>
                      </a:r>
                      <a:endParaRPr lang="en-IN"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531538">
                <a:tc>
                  <a:txBody>
                    <a:bodyPr/>
                    <a:lstStyle/>
                    <a:p>
                      <a:endParaRPr lang="en-IN" sz="1000">
                        <a:latin typeface="Times New Roman" panose="02020603050405020304" pitchFamily="18" charset="0"/>
                        <a:cs typeface="Times New Roman" panose="02020603050405020304" pitchFamily="18" charset="0"/>
                      </a:endParaRPr>
                    </a:p>
                  </a:txBody>
                  <a:tcPr/>
                </a:tc>
                <a:tc>
                  <a:txBody>
                    <a:bodyPr/>
                    <a:lstStyle/>
                    <a:p>
                      <a:endParaRPr lang="en-IN" sz="1000">
                        <a:latin typeface="Times New Roman" panose="02020603050405020304" pitchFamily="18" charset="0"/>
                        <a:cs typeface="Times New Roman" panose="02020603050405020304" pitchFamily="18" charset="0"/>
                      </a:endParaRPr>
                    </a:p>
                  </a:txBody>
                  <a:tcPr/>
                </a:tc>
                <a:tc>
                  <a:txBody>
                    <a:bodyPr/>
                    <a:lstStyle/>
                    <a:p>
                      <a:endParaRPr lang="en-IN" sz="1000" dirty="0">
                        <a:latin typeface="Times New Roman" panose="02020603050405020304" pitchFamily="18" charset="0"/>
                        <a:cs typeface="Times New Roman" panose="02020603050405020304" pitchFamily="18" charset="0"/>
                      </a:endParaRPr>
                    </a:p>
                  </a:txBody>
                  <a:tcPr/>
                </a:tc>
                <a:tc>
                  <a:txBody>
                    <a:bodyPr/>
                    <a:lstStyle/>
                    <a:p>
                      <a:endParaRPr lang="en-IN" sz="1000">
                        <a:latin typeface="Times New Roman" panose="02020603050405020304" pitchFamily="18" charset="0"/>
                        <a:cs typeface="Times New Roman" panose="02020603050405020304" pitchFamily="18" charset="0"/>
                      </a:endParaRPr>
                    </a:p>
                  </a:txBody>
                  <a:tcPr/>
                </a:tc>
                <a:tc>
                  <a:txBody>
                    <a:bodyPr/>
                    <a:lstStyle/>
                    <a:p>
                      <a:endParaRPr lang="en-IN" sz="1000">
                        <a:latin typeface="Times New Roman" panose="02020603050405020304" pitchFamily="18" charset="0"/>
                        <a:cs typeface="Times New Roman" panose="02020603050405020304" pitchFamily="18" charset="0"/>
                      </a:endParaRPr>
                    </a:p>
                  </a:txBody>
                  <a:tcPr/>
                </a:tc>
                <a:tc>
                  <a:txBody>
                    <a:bodyPr/>
                    <a:lstStyle/>
                    <a:p>
                      <a:endParaRPr lang="en-IN"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2427443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3">
            <a:extLst>
              <a:ext uri="{FF2B5EF4-FFF2-40B4-BE49-F238E27FC236}">
                <a16:creationId xmlns:a16="http://schemas.microsoft.com/office/drawing/2014/main" id="{5229382E-C63A-B575-196A-84FF5AB9E7CC}"/>
              </a:ext>
            </a:extLst>
          </p:cNvPr>
          <p:cNvGraphicFramePr>
            <a:graphicFrameLocks/>
          </p:cNvGraphicFramePr>
          <p:nvPr>
            <p:extLst>
              <p:ext uri="{D42A27DB-BD31-4B8C-83A1-F6EECF244321}">
                <p14:modId xmlns:p14="http://schemas.microsoft.com/office/powerpoint/2010/main" val="1214219132"/>
              </p:ext>
            </p:extLst>
          </p:nvPr>
        </p:nvGraphicFramePr>
        <p:xfrm>
          <a:off x="0" y="1012986"/>
          <a:ext cx="9175102" cy="5570376"/>
        </p:xfrm>
        <a:graphic>
          <a:graphicData uri="http://schemas.openxmlformats.org/drawingml/2006/table">
            <a:tbl>
              <a:tblPr firstRow="1" bandRow="1">
                <a:tableStyleId>{F5AB1C69-6EDB-4FF4-983F-18BD219EF322}</a:tableStyleId>
              </a:tblPr>
              <a:tblGrid>
                <a:gridCol w="1148486">
                  <a:extLst>
                    <a:ext uri="{9D8B030D-6E8A-4147-A177-3AD203B41FA5}">
                      <a16:colId xmlns:a16="http://schemas.microsoft.com/office/drawing/2014/main" val="20000"/>
                    </a:ext>
                  </a:extLst>
                </a:gridCol>
                <a:gridCol w="1577598">
                  <a:extLst>
                    <a:ext uri="{9D8B030D-6E8A-4147-A177-3AD203B41FA5}">
                      <a16:colId xmlns:a16="http://schemas.microsoft.com/office/drawing/2014/main" val="20001"/>
                    </a:ext>
                  </a:extLst>
                </a:gridCol>
                <a:gridCol w="1953217">
                  <a:extLst>
                    <a:ext uri="{9D8B030D-6E8A-4147-A177-3AD203B41FA5}">
                      <a16:colId xmlns:a16="http://schemas.microsoft.com/office/drawing/2014/main" val="20002"/>
                    </a:ext>
                  </a:extLst>
                </a:gridCol>
                <a:gridCol w="1477433">
                  <a:extLst>
                    <a:ext uri="{9D8B030D-6E8A-4147-A177-3AD203B41FA5}">
                      <a16:colId xmlns:a16="http://schemas.microsoft.com/office/drawing/2014/main" val="20003"/>
                    </a:ext>
                  </a:extLst>
                </a:gridCol>
                <a:gridCol w="1477433">
                  <a:extLst>
                    <a:ext uri="{9D8B030D-6E8A-4147-A177-3AD203B41FA5}">
                      <a16:colId xmlns:a16="http://schemas.microsoft.com/office/drawing/2014/main" val="20004"/>
                    </a:ext>
                  </a:extLst>
                </a:gridCol>
                <a:gridCol w="1540935">
                  <a:extLst>
                    <a:ext uri="{9D8B030D-6E8A-4147-A177-3AD203B41FA5}">
                      <a16:colId xmlns:a16="http://schemas.microsoft.com/office/drawing/2014/main" val="20005"/>
                    </a:ext>
                  </a:extLst>
                </a:gridCol>
              </a:tblGrid>
              <a:tr h="283841">
                <a:tc>
                  <a:txBody>
                    <a:bodyPr/>
                    <a:lstStyle/>
                    <a:p>
                      <a:r>
                        <a:rPr lang="en-IN" sz="1000" dirty="0">
                          <a:latin typeface="Times New Roman" panose="02020603050405020304" pitchFamily="18" charset="0"/>
                          <a:cs typeface="Times New Roman" panose="02020603050405020304" pitchFamily="18" charset="0"/>
                        </a:rPr>
                        <a:t>YEAR</a:t>
                      </a:r>
                    </a:p>
                  </a:txBody>
                  <a:tcPr/>
                </a:tc>
                <a:tc>
                  <a:txBody>
                    <a:bodyPr/>
                    <a:lstStyle/>
                    <a:p>
                      <a:r>
                        <a:rPr lang="en-IN" sz="1000">
                          <a:latin typeface="Times New Roman" panose="02020603050405020304" pitchFamily="18" charset="0"/>
                          <a:cs typeface="Times New Roman" panose="02020603050405020304" pitchFamily="18" charset="0"/>
                        </a:rPr>
                        <a:t>PAPER TITLE</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IN" sz="1000">
                          <a:latin typeface="Times New Roman" panose="02020603050405020304" pitchFamily="18" charset="0"/>
                          <a:cs typeface="Times New Roman" panose="02020603050405020304" pitchFamily="18" charset="0"/>
                        </a:rPr>
                        <a:t>METHODOLOGY</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IN" sz="1000">
                          <a:latin typeface="Times New Roman" panose="02020603050405020304" pitchFamily="18" charset="0"/>
                          <a:cs typeface="Times New Roman" panose="02020603050405020304" pitchFamily="18" charset="0"/>
                        </a:rPr>
                        <a:t>ADVANTAGES</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IN" sz="1000">
                          <a:latin typeface="Times New Roman" panose="02020603050405020304" pitchFamily="18" charset="0"/>
                          <a:cs typeface="Times New Roman" panose="02020603050405020304" pitchFamily="18" charset="0"/>
                        </a:rPr>
                        <a:t>LIMITATIONS</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IN" sz="1000" dirty="0">
                          <a:latin typeface="Times New Roman" panose="02020603050405020304" pitchFamily="18" charset="0"/>
                          <a:cs typeface="Times New Roman" panose="02020603050405020304" pitchFamily="18" charset="0"/>
                        </a:rPr>
                        <a:t>FUTURE SCOPE</a:t>
                      </a:r>
                    </a:p>
                  </a:txBody>
                  <a:tcPr/>
                </a:tc>
                <a:extLst>
                  <a:ext uri="{0D108BD9-81ED-4DB2-BD59-A6C34878D82A}">
                    <a16:rowId xmlns:a16="http://schemas.microsoft.com/office/drawing/2014/main" val="10000"/>
                  </a:ext>
                </a:extLst>
              </a:tr>
              <a:tr h="2412647">
                <a:tc>
                  <a:txBody>
                    <a:bodyPr/>
                    <a:lstStyle/>
                    <a:p>
                      <a:r>
                        <a:rPr lang="en-US" sz="1000" dirty="0">
                          <a:latin typeface="Times New Roman" panose="02020603050405020304" pitchFamily="18" charset="0"/>
                          <a:cs typeface="Times New Roman" panose="02020603050405020304" pitchFamily="18" charset="0"/>
                        </a:rPr>
                        <a:t>2</a:t>
                      </a:r>
                      <a:r>
                        <a:rPr lang="en-IN" sz="1000" dirty="0">
                          <a:latin typeface="Times New Roman" panose="02020603050405020304" pitchFamily="18" charset="0"/>
                          <a:cs typeface="Times New Roman" panose="02020603050405020304" pitchFamily="18" charset="0"/>
                        </a:rPr>
                        <a:t>020</a:t>
                      </a:r>
                    </a:p>
                  </a:txBody>
                  <a:tcPr/>
                </a:tc>
                <a:tc>
                  <a:txBody>
                    <a:bodyPr/>
                    <a:lstStyle/>
                    <a:p>
                      <a:r>
                        <a:rPr lang="en-US" sz="1000" dirty="0">
                          <a:latin typeface="Times New Roman" panose="02020603050405020304" pitchFamily="18" charset="0"/>
                          <a:cs typeface="Times New Roman" panose="02020603050405020304" pitchFamily="18" charset="0"/>
                        </a:rPr>
                        <a:t>Braille: Into the Next Millennium</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b="0" i="0" kern="1200" dirty="0">
                          <a:solidFill>
                            <a:schemeClr val="dk1"/>
                          </a:solidFill>
                          <a:effectLst/>
                          <a:latin typeface="Times New Roman" panose="02020603050405020304" pitchFamily="18" charset="0"/>
                          <a:ea typeface="+mn-ea"/>
                          <a:cs typeface="Times New Roman" panose="02020603050405020304" pitchFamily="18" charset="0"/>
                        </a:rPr>
                        <a:t> A collection of essays discussing the future of Braille in the context of technological advancements and changing educational practices.</a:t>
                      </a:r>
                      <a:endParaRPr lang="en-IN" sz="1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Times New Roman" panose="02020603050405020304" pitchFamily="18" charset="0"/>
                          <a:cs typeface="Times New Roman" panose="02020603050405020304" pitchFamily="18" charset="0"/>
                        </a:rPr>
                        <a:t>Subjects performed at an accuracy of 99.8%. The responses were recorded and analyzed offline, and additionally coded by the experimenter. Due to voice key failure we excluded 5.1% trials.</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We did not observe any evidence for semantic priming beyond a target–prime distance of ±1; this diverges from earlier results obtained by </a:t>
                      </a:r>
                      <a:r>
                        <a:rPr lang="en-US" sz="1000" dirty="0" err="1">
                          <a:latin typeface="Times New Roman" panose="02020603050405020304" pitchFamily="18" charset="0"/>
                          <a:cs typeface="Times New Roman" panose="02020603050405020304" pitchFamily="18" charset="0"/>
                        </a:rPr>
                        <a:t>Roggeman</a:t>
                      </a:r>
                      <a:r>
                        <a:rPr lang="en-US" sz="1000" dirty="0">
                          <a:latin typeface="Times New Roman" panose="02020603050405020304" pitchFamily="18" charset="0"/>
                          <a:cs typeface="Times New Roman" panose="02020603050405020304" pitchFamily="18" charset="0"/>
                        </a:rPr>
                        <a:t> et al. (2007). One major difference between our paradigm and the task used by </a:t>
                      </a:r>
                      <a:r>
                        <a:rPr lang="en-US" sz="1000" dirty="0" err="1">
                          <a:latin typeface="Times New Roman" panose="02020603050405020304" pitchFamily="18" charset="0"/>
                          <a:cs typeface="Times New Roman" panose="02020603050405020304" pitchFamily="18" charset="0"/>
                        </a:rPr>
                        <a:t>Roggeman</a:t>
                      </a:r>
                      <a:r>
                        <a:rPr lang="en-US" sz="1000" dirty="0">
                          <a:latin typeface="Times New Roman" panose="02020603050405020304" pitchFamily="18" charset="0"/>
                          <a:cs typeface="Times New Roman" panose="02020603050405020304" pitchFamily="18" charset="0"/>
                        </a:rPr>
                        <a:t> et al. (2007) is the symbolic priming notation.</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One has to consider the fact that priming is notoriously dependent on stimulus timing, that stimulus timing was, by necessity, slow, and that the subjects processing of Braille digits, while symbolic, was much less practiced than their processing of Arabic digits.</a:t>
                      </a:r>
                      <a:endParaRPr lang="en-IN"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2590047">
                <a:tc>
                  <a:txBody>
                    <a:bodyPr/>
                    <a:lstStyle/>
                    <a:p>
                      <a:r>
                        <a:rPr lang="en-IN" sz="1000" dirty="0">
                          <a:latin typeface="Times New Roman" panose="02020603050405020304" pitchFamily="18" charset="0"/>
                          <a:cs typeface="Times New Roman" panose="02020603050405020304" pitchFamily="18" charset="0"/>
                        </a:rPr>
                        <a:t>2020</a:t>
                      </a:r>
                    </a:p>
                  </a:txBody>
                  <a:tcPr/>
                </a:tc>
                <a:tc>
                  <a:txBody>
                    <a:bodyPr/>
                    <a:lstStyle/>
                    <a:p>
                      <a:r>
                        <a:rPr lang="en-US" sz="1000" dirty="0">
                          <a:latin typeface="Times New Roman" panose="02020603050405020304" pitchFamily="18" charset="0"/>
                          <a:cs typeface="Times New Roman" panose="02020603050405020304" pitchFamily="18" charset="0"/>
                        </a:rPr>
                        <a:t>Unified English Braille: A Guide</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This guide provides an overview of Unified English Braille (UEB), detailing the changes and implications for Braille users and educators</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err="1">
                          <a:latin typeface="Times New Roman" panose="02020603050405020304" pitchFamily="18" charset="0"/>
                          <a:cs typeface="Times New Roman" panose="02020603050405020304" pitchFamily="18" charset="0"/>
                        </a:rPr>
                        <a:t>Fast,responsive</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Complex </a:t>
                      </a:r>
                      <a:r>
                        <a:rPr lang="en-US" sz="1000" dirty="0" err="1">
                          <a:latin typeface="Times New Roman" panose="02020603050405020304" pitchFamily="18" charset="0"/>
                          <a:cs typeface="Times New Roman" panose="02020603050405020304" pitchFamily="18" charset="0"/>
                        </a:rPr>
                        <a:t>inmplementation</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the processing of visual letters converted to sound showed bilateral hemispheric processing but neither sighted nor blind experienced participants demonstrated a lateralization bias. Thus, the bilateral processing of </a:t>
                      </a:r>
                      <a:r>
                        <a:rPr lang="en-US" sz="1000" dirty="0" err="1">
                          <a:latin typeface="Times New Roman" panose="02020603050405020304" pitchFamily="18" charset="0"/>
                          <a:cs typeface="Times New Roman" panose="02020603050405020304" pitchFamily="18" charset="0"/>
                        </a:rPr>
                        <a:t>vOICe</a:t>
                      </a:r>
                      <a:r>
                        <a:rPr lang="en-US" sz="1000" dirty="0">
                          <a:latin typeface="Times New Roman" panose="02020603050405020304" pitchFamily="18" charset="0"/>
                          <a:cs typeface="Times New Roman" panose="02020603050405020304" pitchFamily="18" charset="0"/>
                        </a:rPr>
                        <a:t> stimuli may be due to additional recruitment of the right hemisphere in processing acoustic stimuli</a:t>
                      </a:r>
                      <a:endParaRPr lang="en-IN"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283841">
                <a:tc>
                  <a:txBody>
                    <a:bodyPr/>
                    <a:lstStyle/>
                    <a:p>
                      <a:endParaRPr lang="en-IN" sz="1000">
                        <a:latin typeface="Times New Roman" panose="02020603050405020304" pitchFamily="18" charset="0"/>
                        <a:cs typeface="Times New Roman" panose="02020603050405020304" pitchFamily="18" charset="0"/>
                      </a:endParaRPr>
                    </a:p>
                  </a:txBody>
                  <a:tcPr/>
                </a:tc>
                <a:tc>
                  <a:txBody>
                    <a:bodyPr/>
                    <a:lstStyle/>
                    <a:p>
                      <a:endParaRPr lang="en-IN" sz="1000">
                        <a:latin typeface="Times New Roman" panose="02020603050405020304" pitchFamily="18" charset="0"/>
                        <a:cs typeface="Times New Roman" panose="02020603050405020304" pitchFamily="18" charset="0"/>
                      </a:endParaRPr>
                    </a:p>
                  </a:txBody>
                  <a:tcPr/>
                </a:tc>
                <a:tc>
                  <a:txBody>
                    <a:bodyPr/>
                    <a:lstStyle/>
                    <a:p>
                      <a:endParaRPr lang="en-IN" sz="1000" dirty="0">
                        <a:latin typeface="Times New Roman" panose="02020603050405020304" pitchFamily="18" charset="0"/>
                        <a:cs typeface="Times New Roman" panose="02020603050405020304" pitchFamily="18" charset="0"/>
                      </a:endParaRPr>
                    </a:p>
                  </a:txBody>
                  <a:tcPr/>
                </a:tc>
                <a:tc>
                  <a:txBody>
                    <a:bodyPr/>
                    <a:lstStyle/>
                    <a:p>
                      <a:endParaRPr lang="en-IN" sz="1000">
                        <a:latin typeface="Times New Roman" panose="02020603050405020304" pitchFamily="18" charset="0"/>
                        <a:cs typeface="Times New Roman" panose="02020603050405020304" pitchFamily="18" charset="0"/>
                      </a:endParaRPr>
                    </a:p>
                  </a:txBody>
                  <a:tcPr/>
                </a:tc>
                <a:tc>
                  <a:txBody>
                    <a:bodyPr/>
                    <a:lstStyle/>
                    <a:p>
                      <a:endParaRPr lang="en-IN" sz="1000" dirty="0">
                        <a:latin typeface="Times New Roman" panose="02020603050405020304" pitchFamily="18" charset="0"/>
                        <a:cs typeface="Times New Roman" panose="02020603050405020304" pitchFamily="18" charset="0"/>
                      </a:endParaRPr>
                    </a:p>
                  </a:txBody>
                  <a:tcPr/>
                </a:tc>
                <a:tc>
                  <a:txBody>
                    <a:bodyPr/>
                    <a:lstStyle/>
                    <a:p>
                      <a:endParaRPr lang="en-IN"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bl>
          </a:graphicData>
        </a:graphic>
      </p:graphicFrame>
      <p:sp>
        <p:nvSpPr>
          <p:cNvPr id="3" name="Title 1">
            <a:extLst>
              <a:ext uri="{FF2B5EF4-FFF2-40B4-BE49-F238E27FC236}">
                <a16:creationId xmlns:a16="http://schemas.microsoft.com/office/drawing/2014/main" id="{C72D0B4C-AFA5-83E3-4CD9-509B3BE5288E}"/>
              </a:ext>
            </a:extLst>
          </p:cNvPr>
          <p:cNvSpPr txBox="1">
            <a:spLocks/>
          </p:cNvSpPr>
          <p:nvPr/>
        </p:nvSpPr>
        <p:spPr>
          <a:xfrm>
            <a:off x="609600" y="274638"/>
            <a:ext cx="8229600" cy="479728"/>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4000" dirty="0">
                <a:latin typeface="Times New Roman" panose="02020603050405020304" pitchFamily="18" charset="0"/>
                <a:cs typeface="Times New Roman" panose="02020603050405020304" pitchFamily="18" charset="0"/>
              </a:rPr>
              <a:t>LITERATURE SURVEY</a:t>
            </a:r>
            <a:endParaRPr lang="en-IN" sz="4000" dirty="0"/>
          </a:p>
        </p:txBody>
      </p:sp>
    </p:spTree>
    <p:extLst>
      <p:ext uri="{BB962C8B-B14F-4D97-AF65-F5344CB8AC3E}">
        <p14:creationId xmlns:p14="http://schemas.microsoft.com/office/powerpoint/2010/main" val="13547672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3">
            <a:extLst>
              <a:ext uri="{FF2B5EF4-FFF2-40B4-BE49-F238E27FC236}">
                <a16:creationId xmlns:a16="http://schemas.microsoft.com/office/drawing/2014/main" id="{A0A5CEEB-D140-7035-BA78-C6316DAC33F4}"/>
              </a:ext>
            </a:extLst>
          </p:cNvPr>
          <p:cNvGraphicFramePr>
            <a:graphicFrameLocks/>
          </p:cNvGraphicFramePr>
          <p:nvPr>
            <p:extLst>
              <p:ext uri="{D42A27DB-BD31-4B8C-83A1-F6EECF244321}">
                <p14:modId xmlns:p14="http://schemas.microsoft.com/office/powerpoint/2010/main" val="2269799964"/>
              </p:ext>
            </p:extLst>
          </p:nvPr>
        </p:nvGraphicFramePr>
        <p:xfrm>
          <a:off x="0" y="754367"/>
          <a:ext cx="9175102" cy="5828995"/>
        </p:xfrm>
        <a:graphic>
          <a:graphicData uri="http://schemas.openxmlformats.org/drawingml/2006/table">
            <a:tbl>
              <a:tblPr firstRow="1" bandRow="1">
                <a:tableStyleId>{F5AB1C69-6EDB-4FF4-983F-18BD219EF322}</a:tableStyleId>
              </a:tblPr>
              <a:tblGrid>
                <a:gridCol w="1148486">
                  <a:extLst>
                    <a:ext uri="{9D8B030D-6E8A-4147-A177-3AD203B41FA5}">
                      <a16:colId xmlns:a16="http://schemas.microsoft.com/office/drawing/2014/main" val="20000"/>
                    </a:ext>
                  </a:extLst>
                </a:gridCol>
                <a:gridCol w="1577598">
                  <a:extLst>
                    <a:ext uri="{9D8B030D-6E8A-4147-A177-3AD203B41FA5}">
                      <a16:colId xmlns:a16="http://schemas.microsoft.com/office/drawing/2014/main" val="20001"/>
                    </a:ext>
                  </a:extLst>
                </a:gridCol>
                <a:gridCol w="1953217">
                  <a:extLst>
                    <a:ext uri="{9D8B030D-6E8A-4147-A177-3AD203B41FA5}">
                      <a16:colId xmlns:a16="http://schemas.microsoft.com/office/drawing/2014/main" val="20002"/>
                    </a:ext>
                  </a:extLst>
                </a:gridCol>
                <a:gridCol w="1477433">
                  <a:extLst>
                    <a:ext uri="{9D8B030D-6E8A-4147-A177-3AD203B41FA5}">
                      <a16:colId xmlns:a16="http://schemas.microsoft.com/office/drawing/2014/main" val="20003"/>
                    </a:ext>
                  </a:extLst>
                </a:gridCol>
                <a:gridCol w="1477433">
                  <a:extLst>
                    <a:ext uri="{9D8B030D-6E8A-4147-A177-3AD203B41FA5}">
                      <a16:colId xmlns:a16="http://schemas.microsoft.com/office/drawing/2014/main" val="20004"/>
                    </a:ext>
                  </a:extLst>
                </a:gridCol>
                <a:gridCol w="1540935">
                  <a:extLst>
                    <a:ext uri="{9D8B030D-6E8A-4147-A177-3AD203B41FA5}">
                      <a16:colId xmlns:a16="http://schemas.microsoft.com/office/drawing/2014/main" val="20005"/>
                    </a:ext>
                  </a:extLst>
                </a:gridCol>
              </a:tblGrid>
              <a:tr h="292533">
                <a:tc>
                  <a:txBody>
                    <a:bodyPr/>
                    <a:lstStyle/>
                    <a:p>
                      <a:r>
                        <a:rPr lang="en-IN" sz="1000" dirty="0">
                          <a:latin typeface="Times New Roman" panose="02020603050405020304" pitchFamily="18" charset="0"/>
                          <a:cs typeface="Times New Roman" panose="02020603050405020304" pitchFamily="18" charset="0"/>
                        </a:rPr>
                        <a:t>YEAR</a:t>
                      </a:r>
                    </a:p>
                  </a:txBody>
                  <a:tcPr/>
                </a:tc>
                <a:tc>
                  <a:txBody>
                    <a:bodyPr/>
                    <a:lstStyle/>
                    <a:p>
                      <a:r>
                        <a:rPr lang="en-IN" sz="1000">
                          <a:latin typeface="Times New Roman" panose="02020603050405020304" pitchFamily="18" charset="0"/>
                          <a:cs typeface="Times New Roman" panose="02020603050405020304" pitchFamily="18" charset="0"/>
                        </a:rPr>
                        <a:t>PAPER TITLE</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IN" sz="1000">
                          <a:latin typeface="Times New Roman" panose="02020603050405020304" pitchFamily="18" charset="0"/>
                          <a:cs typeface="Times New Roman" panose="02020603050405020304" pitchFamily="18" charset="0"/>
                        </a:rPr>
                        <a:t>METHODOLOGY</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IN" sz="1000">
                          <a:latin typeface="Times New Roman" panose="02020603050405020304" pitchFamily="18" charset="0"/>
                          <a:cs typeface="Times New Roman" panose="02020603050405020304" pitchFamily="18" charset="0"/>
                        </a:rPr>
                        <a:t>ADVANTAGES</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IN" sz="1000">
                          <a:latin typeface="Times New Roman" panose="02020603050405020304" pitchFamily="18" charset="0"/>
                          <a:cs typeface="Times New Roman" panose="02020603050405020304" pitchFamily="18" charset="0"/>
                        </a:rPr>
                        <a:t>LIMITATIONS</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IN" sz="1000" dirty="0">
                          <a:latin typeface="Times New Roman" panose="02020603050405020304" pitchFamily="18" charset="0"/>
                          <a:cs typeface="Times New Roman" panose="02020603050405020304" pitchFamily="18" charset="0"/>
                        </a:rPr>
                        <a:t>FUTURE SCOPE</a:t>
                      </a:r>
                    </a:p>
                  </a:txBody>
                  <a:tcPr/>
                </a:tc>
                <a:extLst>
                  <a:ext uri="{0D108BD9-81ED-4DB2-BD59-A6C34878D82A}">
                    <a16:rowId xmlns:a16="http://schemas.microsoft.com/office/drawing/2014/main" val="10000"/>
                  </a:ext>
                </a:extLst>
              </a:tr>
              <a:tr h="2486525">
                <a:tc>
                  <a:txBody>
                    <a:bodyPr/>
                    <a:lstStyle/>
                    <a:p>
                      <a:r>
                        <a:rPr lang="en-US" sz="1000" dirty="0">
                          <a:latin typeface="Times New Roman" panose="02020603050405020304" pitchFamily="18" charset="0"/>
                          <a:cs typeface="Times New Roman" panose="02020603050405020304" pitchFamily="18" charset="0"/>
                        </a:rPr>
                        <a:t>2</a:t>
                      </a:r>
                      <a:r>
                        <a:rPr lang="en-IN" sz="1000" dirty="0">
                          <a:latin typeface="Times New Roman" panose="02020603050405020304" pitchFamily="18" charset="0"/>
                          <a:cs typeface="Times New Roman" panose="02020603050405020304" pitchFamily="18" charset="0"/>
                        </a:rPr>
                        <a:t>020</a:t>
                      </a:r>
                    </a:p>
                  </a:txBody>
                  <a:tcPr/>
                </a:tc>
                <a:tc>
                  <a:txBody>
                    <a:bodyPr/>
                    <a:lstStyle/>
                    <a:p>
                      <a:r>
                        <a:rPr lang="en-US" sz="1000" dirty="0" err="1">
                          <a:latin typeface="Times New Roman" panose="02020603050405020304" pitchFamily="18" charset="0"/>
                          <a:cs typeface="Times New Roman" panose="02020603050405020304" pitchFamily="18" charset="0"/>
                        </a:rPr>
                        <a:t>HaptiRead</a:t>
                      </a:r>
                      <a:r>
                        <a:rPr lang="en-US" sz="1000" dirty="0">
                          <a:latin typeface="Times New Roman" panose="02020603050405020304" pitchFamily="18" charset="0"/>
                          <a:cs typeface="Times New Roman" panose="02020603050405020304" pitchFamily="18" charset="0"/>
                        </a:rPr>
                        <a:t>: Reading Braille as Mid-Air Haptic Information</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b="0" i="0" kern="1200" dirty="0">
                          <a:solidFill>
                            <a:schemeClr val="dk1"/>
                          </a:solidFill>
                          <a:effectLst/>
                          <a:latin typeface="Times New Roman" panose="02020603050405020304" pitchFamily="18" charset="0"/>
                          <a:ea typeface="+mn-ea"/>
                          <a:cs typeface="Times New Roman" panose="02020603050405020304" pitchFamily="18" charset="0"/>
                        </a:rPr>
                        <a:t>This research validates the use of mid-air haptics for conveying Braille characters, enabling blind individuals to read Braille through haptic feedback without physical contact.</a:t>
                      </a:r>
                      <a:endParaRPr lang="en-IN" sz="10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Times New Roman" panose="02020603050405020304" pitchFamily="18" charset="0"/>
                          <a:cs typeface="Times New Roman" panose="02020603050405020304" pitchFamily="18" charset="0"/>
                        </a:rPr>
                        <a:t>Subjects performed at an accuracy of 99.8%. The responses were recorded and analyzed offline, and additionally coded by the experimenter. Due to voice key failure we excluded 5.1% trials.</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We did not observe any evidence for semantic priming beyond a target–prime distance of ±1; this diverges from earlier results obtained by </a:t>
                      </a:r>
                      <a:r>
                        <a:rPr lang="en-US" sz="1000" dirty="0" err="1">
                          <a:latin typeface="Times New Roman" panose="02020603050405020304" pitchFamily="18" charset="0"/>
                          <a:cs typeface="Times New Roman" panose="02020603050405020304" pitchFamily="18" charset="0"/>
                        </a:rPr>
                        <a:t>Roggeman</a:t>
                      </a:r>
                      <a:r>
                        <a:rPr lang="en-US" sz="1000" dirty="0">
                          <a:latin typeface="Times New Roman" panose="02020603050405020304" pitchFamily="18" charset="0"/>
                          <a:cs typeface="Times New Roman" panose="02020603050405020304" pitchFamily="18" charset="0"/>
                        </a:rPr>
                        <a:t> et al. (2007). One major difference between our paradigm and the task used by </a:t>
                      </a:r>
                      <a:r>
                        <a:rPr lang="en-US" sz="1000" dirty="0" err="1">
                          <a:latin typeface="Times New Roman" panose="02020603050405020304" pitchFamily="18" charset="0"/>
                          <a:cs typeface="Times New Roman" panose="02020603050405020304" pitchFamily="18" charset="0"/>
                        </a:rPr>
                        <a:t>Roggeman</a:t>
                      </a:r>
                      <a:r>
                        <a:rPr lang="en-US" sz="1000" dirty="0">
                          <a:latin typeface="Times New Roman" panose="02020603050405020304" pitchFamily="18" charset="0"/>
                          <a:cs typeface="Times New Roman" panose="02020603050405020304" pitchFamily="18" charset="0"/>
                        </a:rPr>
                        <a:t> et al. (2007) is the symbolic priming notation.</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One has to consider the fact that priming is notoriously dependent on stimulus timing, that stimulus timing was, by necessity, slow, and that the subjects processing of Braille digits, while symbolic, was much less practiced than their processing of Arabic digits.</a:t>
                      </a:r>
                      <a:endParaRPr lang="en-IN"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2669357">
                <a:tc>
                  <a:txBody>
                    <a:bodyPr/>
                    <a:lstStyle/>
                    <a:p>
                      <a:r>
                        <a:rPr lang="en-IN" sz="1000" dirty="0">
                          <a:latin typeface="Times New Roman" panose="02020603050405020304" pitchFamily="18" charset="0"/>
                          <a:cs typeface="Times New Roman" panose="02020603050405020304" pitchFamily="18" charset="0"/>
                        </a:rPr>
                        <a:t>2020</a:t>
                      </a:r>
                    </a:p>
                  </a:txBody>
                  <a:tcPr/>
                </a:tc>
                <a:tc>
                  <a:txBody>
                    <a:bodyPr/>
                    <a:lstStyle/>
                    <a:p>
                      <a:r>
                        <a:rPr lang="en-IN" sz="1000" dirty="0">
                          <a:latin typeface="Times New Roman" panose="02020603050405020304" pitchFamily="18" charset="0"/>
                          <a:cs typeface="Times New Roman" panose="02020603050405020304" pitchFamily="18" charset="0"/>
                        </a:rPr>
                        <a:t>Optical Braille Recognition Using Object Detection CNN</a:t>
                      </a:r>
                    </a:p>
                  </a:txBody>
                  <a:tcPr/>
                </a:tc>
                <a:tc>
                  <a:txBody>
                    <a:bodyPr/>
                    <a:lstStyle/>
                    <a:p>
                      <a:r>
                        <a:rPr lang="en-US" sz="1000" dirty="0">
                          <a:latin typeface="Times New Roman" panose="02020603050405020304" pitchFamily="18" charset="0"/>
                          <a:cs typeface="Times New Roman" panose="02020603050405020304" pitchFamily="18" charset="0"/>
                        </a:rPr>
                        <a:t>The paper introduces an optical Braille recognition method utilizing a convolutional neural network to detect entire Braille characters, enhancing the accuracy of Braille text recognition from images.</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err="1">
                          <a:latin typeface="Times New Roman" panose="02020603050405020304" pitchFamily="18" charset="0"/>
                          <a:cs typeface="Times New Roman" panose="02020603050405020304" pitchFamily="18" charset="0"/>
                        </a:rPr>
                        <a:t>Fast,responsive</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Complex </a:t>
                      </a:r>
                      <a:r>
                        <a:rPr lang="en-US" sz="1000" dirty="0" err="1">
                          <a:latin typeface="Times New Roman" panose="02020603050405020304" pitchFamily="18" charset="0"/>
                          <a:cs typeface="Times New Roman" panose="02020603050405020304" pitchFamily="18" charset="0"/>
                        </a:rPr>
                        <a:t>inmplementation</a:t>
                      </a:r>
                      <a:endParaRPr lang="en-IN" sz="1000" dirty="0">
                        <a:latin typeface="Times New Roman" panose="02020603050405020304" pitchFamily="18" charset="0"/>
                        <a:cs typeface="Times New Roman" panose="02020603050405020304" pitchFamily="18" charset="0"/>
                      </a:endParaRPr>
                    </a:p>
                  </a:txBody>
                  <a:tcPr/>
                </a:tc>
                <a:tc>
                  <a:txBody>
                    <a:bodyPr/>
                    <a:lstStyle/>
                    <a:p>
                      <a:r>
                        <a:rPr lang="en-US" sz="1000" dirty="0">
                          <a:latin typeface="Times New Roman" panose="02020603050405020304" pitchFamily="18" charset="0"/>
                          <a:cs typeface="Times New Roman" panose="02020603050405020304" pitchFamily="18" charset="0"/>
                        </a:rPr>
                        <a:t>the processing of visual letters converted to sound showed bilateral hemispheric processing but neither sighted nor blind experienced participants demonstrated a lateralization bias. Thus, the bilateral processing of </a:t>
                      </a:r>
                      <a:r>
                        <a:rPr lang="en-US" sz="1000" dirty="0" err="1">
                          <a:latin typeface="Times New Roman" panose="02020603050405020304" pitchFamily="18" charset="0"/>
                          <a:cs typeface="Times New Roman" panose="02020603050405020304" pitchFamily="18" charset="0"/>
                        </a:rPr>
                        <a:t>vOICe</a:t>
                      </a:r>
                      <a:r>
                        <a:rPr lang="en-US" sz="1000" dirty="0">
                          <a:latin typeface="Times New Roman" panose="02020603050405020304" pitchFamily="18" charset="0"/>
                          <a:cs typeface="Times New Roman" panose="02020603050405020304" pitchFamily="18" charset="0"/>
                        </a:rPr>
                        <a:t> stimuli may be due to additional recruitment of the right hemisphere in processing acoustic stimuli</a:t>
                      </a:r>
                      <a:endParaRPr lang="en-IN"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380580">
                <a:tc>
                  <a:txBody>
                    <a:bodyPr/>
                    <a:lstStyle/>
                    <a:p>
                      <a:endParaRPr lang="en-IN" sz="1000">
                        <a:latin typeface="Times New Roman" panose="02020603050405020304" pitchFamily="18" charset="0"/>
                        <a:cs typeface="Times New Roman" panose="02020603050405020304" pitchFamily="18" charset="0"/>
                      </a:endParaRPr>
                    </a:p>
                  </a:txBody>
                  <a:tcPr/>
                </a:tc>
                <a:tc>
                  <a:txBody>
                    <a:bodyPr/>
                    <a:lstStyle/>
                    <a:p>
                      <a:endParaRPr lang="en-IN" sz="1000">
                        <a:latin typeface="Times New Roman" panose="02020603050405020304" pitchFamily="18" charset="0"/>
                        <a:cs typeface="Times New Roman" panose="02020603050405020304" pitchFamily="18" charset="0"/>
                      </a:endParaRPr>
                    </a:p>
                  </a:txBody>
                  <a:tcPr/>
                </a:tc>
                <a:tc>
                  <a:txBody>
                    <a:bodyPr/>
                    <a:lstStyle/>
                    <a:p>
                      <a:endParaRPr lang="en-IN" sz="1000" dirty="0">
                        <a:latin typeface="Times New Roman" panose="02020603050405020304" pitchFamily="18" charset="0"/>
                        <a:cs typeface="Times New Roman" panose="02020603050405020304" pitchFamily="18" charset="0"/>
                      </a:endParaRPr>
                    </a:p>
                  </a:txBody>
                  <a:tcPr/>
                </a:tc>
                <a:tc>
                  <a:txBody>
                    <a:bodyPr/>
                    <a:lstStyle/>
                    <a:p>
                      <a:endParaRPr lang="en-IN" sz="1000" dirty="0">
                        <a:latin typeface="Times New Roman" panose="02020603050405020304" pitchFamily="18" charset="0"/>
                        <a:cs typeface="Times New Roman" panose="02020603050405020304" pitchFamily="18" charset="0"/>
                      </a:endParaRPr>
                    </a:p>
                  </a:txBody>
                  <a:tcPr/>
                </a:tc>
                <a:tc>
                  <a:txBody>
                    <a:bodyPr/>
                    <a:lstStyle/>
                    <a:p>
                      <a:endParaRPr lang="en-IN" sz="1000" dirty="0">
                        <a:latin typeface="Times New Roman" panose="02020603050405020304" pitchFamily="18" charset="0"/>
                        <a:cs typeface="Times New Roman" panose="02020603050405020304" pitchFamily="18" charset="0"/>
                      </a:endParaRPr>
                    </a:p>
                  </a:txBody>
                  <a:tcPr/>
                </a:tc>
                <a:tc>
                  <a:txBody>
                    <a:bodyPr/>
                    <a:lstStyle/>
                    <a:p>
                      <a:endParaRPr lang="en-IN"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bl>
          </a:graphicData>
        </a:graphic>
      </p:graphicFrame>
      <p:sp>
        <p:nvSpPr>
          <p:cNvPr id="3" name="Title 1">
            <a:extLst>
              <a:ext uri="{FF2B5EF4-FFF2-40B4-BE49-F238E27FC236}">
                <a16:creationId xmlns:a16="http://schemas.microsoft.com/office/drawing/2014/main" id="{7C8A12FB-539E-D43C-F579-9F4155364908}"/>
              </a:ext>
            </a:extLst>
          </p:cNvPr>
          <p:cNvSpPr txBox="1">
            <a:spLocks/>
          </p:cNvSpPr>
          <p:nvPr/>
        </p:nvSpPr>
        <p:spPr>
          <a:xfrm>
            <a:off x="609600" y="274638"/>
            <a:ext cx="8229600" cy="41116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4000" dirty="0">
                <a:latin typeface="Times New Roman" panose="02020603050405020304" pitchFamily="18" charset="0"/>
                <a:cs typeface="Times New Roman" panose="02020603050405020304" pitchFamily="18" charset="0"/>
              </a:rPr>
              <a:t>LITERATURE SURVEY</a:t>
            </a:r>
            <a:endParaRPr lang="en-IN" sz="4000" dirty="0"/>
          </a:p>
        </p:txBody>
      </p:sp>
    </p:spTree>
    <p:extLst>
      <p:ext uri="{BB962C8B-B14F-4D97-AF65-F5344CB8AC3E}">
        <p14:creationId xmlns:p14="http://schemas.microsoft.com/office/powerpoint/2010/main" val="7687186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228600"/>
            <a:ext cx="7772400" cy="781881"/>
          </a:xfrm>
        </p:spPr>
        <p:txBody>
          <a:bodyPr>
            <a:normAutofit/>
          </a:bodyPr>
          <a:lstStyle/>
          <a:p>
            <a:r>
              <a:rPr lang="en-US" sz="3200" b="1" dirty="0">
                <a:latin typeface="Times New Roman" panose="02020603050405020304" pitchFamily="18" charset="0"/>
                <a:cs typeface="Times New Roman" panose="02020603050405020304" pitchFamily="18" charset="0"/>
              </a:rPr>
              <a:t>METHODOLOGY </a:t>
            </a:r>
          </a:p>
        </p:txBody>
      </p:sp>
      <p:sp>
        <p:nvSpPr>
          <p:cNvPr id="4" name="Rectangle 1">
            <a:extLst>
              <a:ext uri="{FF2B5EF4-FFF2-40B4-BE49-F238E27FC236}">
                <a16:creationId xmlns:a16="http://schemas.microsoft.com/office/drawing/2014/main" id="{E2C16FE6-48B2-316B-FF15-823815B4146D}"/>
              </a:ext>
            </a:extLst>
          </p:cNvPr>
          <p:cNvSpPr>
            <a:spLocks noGrp="1" noChangeArrowheads="1"/>
          </p:cNvSpPr>
          <p:nvPr>
            <p:ph type="subTitle" idx="1"/>
          </p:nvPr>
        </p:nvSpPr>
        <p:spPr bwMode="auto">
          <a:xfrm>
            <a:off x="609600" y="1166842"/>
            <a:ext cx="82296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00050" marR="0" lvl="0" indent="-4000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Problem Identification and Data Collection : Extract website content using web scraping tools like </a:t>
            </a: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BeautifulSoup</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fetch relevant text for processing.</a:t>
            </a:r>
          </a:p>
          <a:p>
            <a:pPr marL="400050" marR="0" lvl="0" indent="-40005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00050" marR="0" lvl="0" indent="-4000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Text Summarization : Apply Natural Language Processing (NLP) techniques using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NLTK</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summarize the extracted content effectively.</a:t>
            </a:r>
          </a:p>
          <a:p>
            <a:pPr marL="400050" marR="0" lvl="0" indent="-40005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00050" marR="0" lvl="0" indent="-4000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Translation and Braille Conversion : Use the Google Translator API for multilingual translation, followed by mapping text to Braille using custom dictionaries.</a:t>
            </a:r>
          </a:p>
          <a:p>
            <a:pPr marL="400050" marR="0" lvl="0" indent="-40005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00050" marR="0" lvl="0" indent="-4000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Audio Conversion : Generate audio output for the summarized text using Google Text-to-Speech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gTTS</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accessibility.</a:t>
            </a:r>
          </a:p>
          <a:p>
            <a:pPr marL="400050" marR="0" lvl="0" indent="-400050" algn="l" defTabSz="914400" rtl="0" eaLnBrk="0" fontAlgn="base" latinLnBrk="0" hangingPunct="0">
              <a:lnSpc>
                <a:spcPct val="100000"/>
              </a:lnSpc>
              <a:spcBef>
                <a:spcPct val="0"/>
              </a:spcBef>
              <a:spcAft>
                <a:spcPct val="0"/>
              </a:spcAft>
              <a:buClrTx/>
              <a:buSzTx/>
              <a:buFont typeface="+mj-lt"/>
              <a:buAutoNum type="arabicPeriod"/>
              <a:tabLst/>
            </a:pPr>
            <a:endParaRPr lang="en-US" altLang="en-US" sz="1800" dirty="0">
              <a:solidFill>
                <a:schemeClr val="tx1"/>
              </a:solidFill>
              <a:latin typeface="Times New Roman" panose="02020603050405020304" pitchFamily="18" charset="0"/>
              <a:cs typeface="Times New Roman" panose="02020603050405020304" pitchFamily="18" charset="0"/>
            </a:endParaRPr>
          </a:p>
          <a:p>
            <a:pPr marL="400050" marR="0" lvl="0" indent="-4000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Frontend Integration : Develop a user-friendly interface with Flask, allowing users to input a URL, select a language, and view/download the summarized Braille or audio output.</a:t>
            </a:r>
          </a:p>
        </p:txBody>
      </p:sp>
    </p:spTree>
    <p:extLst>
      <p:ext uri="{BB962C8B-B14F-4D97-AF65-F5344CB8AC3E}">
        <p14:creationId xmlns:p14="http://schemas.microsoft.com/office/powerpoint/2010/main" val="24190983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65D71-B5FB-50EF-21DA-610EC3CCD8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912732-BB78-41C9-557F-6744661AB814}"/>
              </a:ext>
            </a:extLst>
          </p:cNvPr>
          <p:cNvSpPr>
            <a:spLocks noGrp="1"/>
          </p:cNvSpPr>
          <p:nvPr>
            <p:ph type="ctrTitle"/>
          </p:nvPr>
        </p:nvSpPr>
        <p:spPr>
          <a:xfrm>
            <a:off x="609600" y="228600"/>
            <a:ext cx="7772400" cy="781881"/>
          </a:xfrm>
        </p:spPr>
        <p:txBody>
          <a:bodyPr>
            <a:normAutofit/>
          </a:bodyPr>
          <a:lstStyle/>
          <a:p>
            <a:r>
              <a:rPr lang="en-US" sz="3200" b="1" dirty="0">
                <a:latin typeface="Times New Roman" panose="02020603050405020304" pitchFamily="18" charset="0"/>
                <a:cs typeface="Times New Roman" panose="02020603050405020304" pitchFamily="18" charset="0"/>
              </a:rPr>
              <a:t>ADVANTAGES &amp; DISADVANTAGES</a:t>
            </a:r>
          </a:p>
        </p:txBody>
      </p:sp>
      <p:sp>
        <p:nvSpPr>
          <p:cNvPr id="4" name="Rectangle 1">
            <a:extLst>
              <a:ext uri="{FF2B5EF4-FFF2-40B4-BE49-F238E27FC236}">
                <a16:creationId xmlns:a16="http://schemas.microsoft.com/office/drawing/2014/main" id="{421B3562-99E2-DC8D-FA00-9DF4B85D871E}"/>
              </a:ext>
            </a:extLst>
          </p:cNvPr>
          <p:cNvSpPr>
            <a:spLocks noGrp="1" noChangeArrowheads="1"/>
          </p:cNvSpPr>
          <p:nvPr>
            <p:ph type="subTitle" idx="1"/>
          </p:nvPr>
        </p:nvSpPr>
        <p:spPr bwMode="auto">
          <a:xfrm>
            <a:off x="609600" y="1797788"/>
            <a:ext cx="8229600" cy="3262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Advantages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Improved Accessibility</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en-US" altLang="en-US" sz="1800" dirty="0">
                <a:solidFill>
                  <a:schemeClr val="tx1"/>
                </a:solidFill>
                <a:latin typeface="Times New Roman" panose="02020603050405020304" pitchFamily="18" charset="0"/>
                <a:cs typeface="Times New Roman" panose="02020603050405020304" pitchFamily="18" charset="0"/>
              </a:rPr>
              <a:t>Time Efficiency</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Braille Support</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en-US" altLang="en-US" sz="1800" dirty="0">
                <a:solidFill>
                  <a:schemeClr val="tx1"/>
                </a:solidFill>
                <a:latin typeface="Times New Roman" panose="02020603050405020304" pitchFamily="18" charset="0"/>
                <a:cs typeface="Times New Roman" panose="02020603050405020304" pitchFamily="18" charset="0"/>
              </a:rPr>
              <a:t>Multi-Language Support</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Enhanced User Experience</a:t>
            </a:r>
          </a:p>
          <a:p>
            <a:pPr marR="0" lvl="0" algn="l" defTabSz="914400" rtl="0" eaLnBrk="0" fontAlgn="base" latinLnBrk="0" hangingPunct="0">
              <a:lnSpc>
                <a:spcPct val="100000"/>
              </a:lnSpc>
              <a:spcBef>
                <a:spcPct val="0"/>
              </a:spcBef>
              <a:spcAft>
                <a:spcPct val="0"/>
              </a:spcAft>
              <a:buClrTx/>
              <a:buSzTx/>
              <a:tabLst/>
            </a:pPr>
            <a:endParaRPr lang="en-US" altLang="en-US" sz="1800" dirty="0">
              <a:solidFill>
                <a:schemeClr val="tx1"/>
              </a:solidFill>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Disadvantages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en-US" altLang="en-US" sz="1800" dirty="0">
                <a:solidFill>
                  <a:schemeClr val="tx1"/>
                </a:solidFill>
                <a:latin typeface="Times New Roman" panose="02020603050405020304" pitchFamily="18" charset="0"/>
                <a:cs typeface="Times New Roman" panose="02020603050405020304" pitchFamily="18" charset="0"/>
              </a:rPr>
              <a:t>Complex Implementation</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Depen</a:t>
            </a:r>
            <a:r>
              <a:rPr lang="en-US" altLang="en-US" sz="1800" dirty="0">
                <a:solidFill>
                  <a:schemeClr val="tx1"/>
                </a:solidFill>
                <a:latin typeface="Times New Roman" panose="02020603050405020304" pitchFamily="18" charset="0"/>
                <a:cs typeface="Times New Roman" panose="02020603050405020304" pitchFamily="18" charset="0"/>
              </a:rPr>
              <a:t>dence on Internet Connectivity</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Accuracy Summarization</a:t>
            </a:r>
          </a:p>
        </p:txBody>
      </p:sp>
    </p:spTree>
    <p:extLst>
      <p:ext uri="{BB962C8B-B14F-4D97-AF65-F5344CB8AC3E}">
        <p14:creationId xmlns:p14="http://schemas.microsoft.com/office/powerpoint/2010/main" val="31390653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9F9B2-06FB-606C-A96A-BA58914960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779AEB-7F82-39D4-B514-1D19EBCC1077}"/>
              </a:ext>
            </a:extLst>
          </p:cNvPr>
          <p:cNvSpPr>
            <a:spLocks noGrp="1"/>
          </p:cNvSpPr>
          <p:nvPr>
            <p:ph type="ctrTitle"/>
          </p:nvPr>
        </p:nvSpPr>
        <p:spPr>
          <a:xfrm>
            <a:off x="609600" y="228600"/>
            <a:ext cx="7772400" cy="781881"/>
          </a:xfrm>
        </p:spPr>
        <p:txBody>
          <a:bodyPr>
            <a:normAutofit/>
          </a:bodyPr>
          <a:lstStyle/>
          <a:p>
            <a:r>
              <a:rPr lang="en-US" sz="3200" b="1" dirty="0">
                <a:latin typeface="Times New Roman" panose="02020603050405020304" pitchFamily="18" charset="0"/>
                <a:cs typeface="Times New Roman" panose="02020603050405020304" pitchFamily="18" charset="0"/>
              </a:rPr>
              <a:t>SYSTEM DESIGN</a:t>
            </a:r>
          </a:p>
        </p:txBody>
      </p:sp>
      <p:pic>
        <p:nvPicPr>
          <p:cNvPr id="5" name="Picture 4">
            <a:extLst>
              <a:ext uri="{FF2B5EF4-FFF2-40B4-BE49-F238E27FC236}">
                <a16:creationId xmlns:a16="http://schemas.microsoft.com/office/drawing/2014/main" id="{73B9BDBA-3073-DA37-51B1-C8F2ACA6F6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8359" y="1295400"/>
            <a:ext cx="7407282" cy="4191000"/>
          </a:xfrm>
          <a:prstGeom prst="rect">
            <a:avLst/>
          </a:prstGeom>
        </p:spPr>
      </p:pic>
      <p:sp>
        <p:nvSpPr>
          <p:cNvPr id="6" name="TextBox 5">
            <a:extLst>
              <a:ext uri="{FF2B5EF4-FFF2-40B4-BE49-F238E27FC236}">
                <a16:creationId xmlns:a16="http://schemas.microsoft.com/office/drawing/2014/main" id="{1F3AB88C-DADD-374F-4F70-58A2D9F70CA3}"/>
              </a:ext>
            </a:extLst>
          </p:cNvPr>
          <p:cNvSpPr txBox="1"/>
          <p:nvPr/>
        </p:nvSpPr>
        <p:spPr>
          <a:xfrm>
            <a:off x="2209800" y="5794765"/>
            <a:ext cx="6476999"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Fig – Website Content Summarizer to Braille Conversion</a:t>
            </a:r>
          </a:p>
        </p:txBody>
      </p:sp>
    </p:spTree>
    <p:extLst>
      <p:ext uri="{BB962C8B-B14F-4D97-AF65-F5344CB8AC3E}">
        <p14:creationId xmlns:p14="http://schemas.microsoft.com/office/powerpoint/2010/main" val="20396800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9A7FA-FFF5-09B5-409B-71DAF41E86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2AF82A-862E-2F93-DFE6-B866595E326C}"/>
              </a:ext>
            </a:extLst>
          </p:cNvPr>
          <p:cNvSpPr>
            <a:spLocks noGrp="1"/>
          </p:cNvSpPr>
          <p:nvPr>
            <p:ph type="ctrTitle"/>
          </p:nvPr>
        </p:nvSpPr>
        <p:spPr>
          <a:xfrm>
            <a:off x="609600" y="914400"/>
            <a:ext cx="7772400" cy="96081"/>
          </a:xfrm>
        </p:spPr>
        <p:txBody>
          <a:bodyPr>
            <a:normAutofit fontScale="90000"/>
          </a:bodyPr>
          <a:lstStyle/>
          <a:p>
            <a:r>
              <a:rPr lang="en-US" sz="3200" b="1" dirty="0">
                <a:latin typeface="Times New Roman" panose="02020603050405020304" pitchFamily="18" charset="0"/>
                <a:cs typeface="Times New Roman" panose="02020603050405020304" pitchFamily="18" charset="0"/>
              </a:rPr>
              <a:t>IMPLEMENTATION</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BACK END</a:t>
            </a:r>
          </a:p>
        </p:txBody>
      </p:sp>
      <p:sp>
        <p:nvSpPr>
          <p:cNvPr id="4" name="Rectangle 1">
            <a:extLst>
              <a:ext uri="{FF2B5EF4-FFF2-40B4-BE49-F238E27FC236}">
                <a16:creationId xmlns:a16="http://schemas.microsoft.com/office/drawing/2014/main" id="{AB88AEF1-6C86-7C3A-AA83-0B10C303465B}"/>
              </a:ext>
            </a:extLst>
          </p:cNvPr>
          <p:cNvSpPr>
            <a:spLocks noGrp="1" noChangeArrowheads="1"/>
          </p:cNvSpPr>
          <p:nvPr>
            <p:ph type="subTitle" idx="1"/>
          </p:nvPr>
        </p:nvSpPr>
        <p:spPr bwMode="auto">
          <a:xfrm>
            <a:off x="609600" y="1487443"/>
            <a:ext cx="8229600" cy="38831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l">
              <a:spcBef>
                <a:spcPts val="150"/>
              </a:spcBef>
              <a:spcAft>
                <a:spcPts val="150"/>
              </a:spcAft>
              <a:buFont typeface="+mj-lt"/>
              <a:buAutoNum type="arabicPeriod"/>
            </a:pPr>
            <a:r>
              <a:rPr lang="en-US" sz="2200" b="1" i="0" dirty="0">
                <a:solidFill>
                  <a:schemeClr val="tx1"/>
                </a:solidFill>
                <a:effectLst/>
                <a:latin typeface="Times New Roman" panose="02020603050405020304" pitchFamily="18" charset="0"/>
                <a:cs typeface="Times New Roman" panose="02020603050405020304" pitchFamily="18" charset="0"/>
              </a:rPr>
              <a:t>Flask Framework</a:t>
            </a:r>
            <a:endParaRPr lang="en-US" sz="2200" b="0" i="0" dirty="0">
              <a:solidFill>
                <a:schemeClr val="tx1"/>
              </a:solidFill>
              <a:effectLst/>
              <a:latin typeface="Times New Roman" panose="02020603050405020304" pitchFamily="18" charset="0"/>
              <a:cs typeface="Times New Roman" panose="02020603050405020304" pitchFamily="18" charset="0"/>
            </a:endParaRPr>
          </a:p>
          <a:p>
            <a:pPr lvl="1" algn="l">
              <a:spcBef>
                <a:spcPts val="150"/>
              </a:spcBef>
              <a:spcAft>
                <a:spcPts val="150"/>
              </a:spcAft>
              <a:buFont typeface="Arial" panose="020B0604020202020204" pitchFamily="34" charset="0"/>
              <a:buChar char="•"/>
            </a:pPr>
            <a:r>
              <a:rPr lang="en-US" sz="1800" b="0" i="0" dirty="0">
                <a:solidFill>
                  <a:schemeClr val="tx1"/>
                </a:solidFill>
                <a:effectLst/>
                <a:latin typeface="Times New Roman" panose="02020603050405020304" pitchFamily="18" charset="0"/>
                <a:cs typeface="Times New Roman" panose="02020603050405020304" pitchFamily="18" charset="0"/>
              </a:rPr>
              <a:t>Core web framework for handling HTTP requests and serving the application</a:t>
            </a:r>
          </a:p>
          <a:p>
            <a:pPr lvl="1" algn="l">
              <a:spcBef>
                <a:spcPts val="150"/>
              </a:spcBef>
              <a:spcAft>
                <a:spcPts val="150"/>
              </a:spcAft>
              <a:buFont typeface="Arial" panose="020B0604020202020204" pitchFamily="34" charset="0"/>
              <a:buChar char="•"/>
            </a:pPr>
            <a:r>
              <a:rPr lang="en-US" sz="1800" b="0" i="0" dirty="0">
                <a:solidFill>
                  <a:schemeClr val="tx1"/>
                </a:solidFill>
                <a:effectLst/>
                <a:latin typeface="Times New Roman" panose="02020603050405020304" pitchFamily="18" charset="0"/>
                <a:cs typeface="Times New Roman" panose="02020603050405020304" pitchFamily="18" charset="0"/>
              </a:rPr>
              <a:t>Provides routing, request handling, and response generation</a:t>
            </a:r>
          </a:p>
          <a:p>
            <a:pPr algn="l">
              <a:spcBef>
                <a:spcPts val="150"/>
              </a:spcBef>
              <a:spcAft>
                <a:spcPts val="150"/>
              </a:spcAft>
              <a:buFont typeface="+mj-lt"/>
              <a:buAutoNum type="arabicPeriod" startAt="2"/>
            </a:pPr>
            <a:r>
              <a:rPr lang="en-US" sz="2200" b="1" i="0" dirty="0">
                <a:solidFill>
                  <a:schemeClr val="tx1"/>
                </a:solidFill>
                <a:effectLst/>
                <a:latin typeface="Times New Roman" panose="02020603050405020304" pitchFamily="18" charset="0"/>
                <a:cs typeface="Times New Roman" panose="02020603050405020304" pitchFamily="18" charset="0"/>
              </a:rPr>
              <a:t>Web Scraping and Content Extraction</a:t>
            </a:r>
            <a:endParaRPr lang="en-US" sz="2200" b="0" i="0" dirty="0">
              <a:solidFill>
                <a:schemeClr val="tx1"/>
              </a:solidFill>
              <a:effectLst/>
              <a:latin typeface="Times New Roman" panose="02020603050405020304" pitchFamily="18" charset="0"/>
              <a:cs typeface="Times New Roman" panose="02020603050405020304" pitchFamily="18" charset="0"/>
            </a:endParaRPr>
          </a:p>
          <a:p>
            <a:pPr lvl="1" algn="l">
              <a:spcBef>
                <a:spcPts val="150"/>
              </a:spcBef>
              <a:spcAft>
                <a:spcPts val="150"/>
              </a:spcAft>
              <a:buFont typeface="Arial" panose="020B0604020202020204" pitchFamily="34" charset="0"/>
              <a:buChar char="•"/>
            </a:pPr>
            <a:r>
              <a:rPr lang="en-US" sz="1800" b="0" i="0" dirty="0">
                <a:solidFill>
                  <a:schemeClr val="tx1"/>
                </a:solidFill>
                <a:effectLst/>
                <a:latin typeface="Times New Roman" panose="02020603050405020304" pitchFamily="18" charset="0"/>
                <a:cs typeface="Times New Roman" panose="02020603050405020304" pitchFamily="18" charset="0"/>
              </a:rPr>
              <a:t>Likely using libraries like </a:t>
            </a:r>
            <a:r>
              <a:rPr lang="en-US" sz="1800" b="0" i="0" dirty="0" err="1">
                <a:solidFill>
                  <a:schemeClr val="tx1"/>
                </a:solidFill>
                <a:effectLst/>
                <a:latin typeface="Times New Roman" panose="02020603050405020304" pitchFamily="18" charset="0"/>
                <a:cs typeface="Times New Roman" panose="02020603050405020304" pitchFamily="18" charset="0"/>
              </a:rPr>
              <a:t>BeautifulSoup</a:t>
            </a:r>
            <a:r>
              <a:rPr lang="en-US" sz="1800" b="0" i="0" dirty="0">
                <a:solidFill>
                  <a:schemeClr val="tx1"/>
                </a:solidFill>
                <a:effectLst/>
                <a:latin typeface="Times New Roman" panose="02020603050405020304" pitchFamily="18" charset="0"/>
                <a:cs typeface="Times New Roman" panose="02020603050405020304" pitchFamily="18" charset="0"/>
              </a:rPr>
              <a:t> or Newspaper3k to extract content from websites</a:t>
            </a:r>
          </a:p>
          <a:p>
            <a:pPr lvl="1" algn="l">
              <a:spcBef>
                <a:spcPts val="150"/>
              </a:spcBef>
              <a:spcAft>
                <a:spcPts val="150"/>
              </a:spcAft>
              <a:buFont typeface="Arial" panose="020B0604020202020204" pitchFamily="34" charset="0"/>
              <a:buChar char="•"/>
            </a:pPr>
            <a:r>
              <a:rPr lang="en-US" sz="1800" b="0" i="0" dirty="0">
                <a:solidFill>
                  <a:schemeClr val="tx1"/>
                </a:solidFill>
                <a:effectLst/>
                <a:latin typeface="Times New Roman" panose="02020603050405020304" pitchFamily="18" charset="0"/>
                <a:cs typeface="Times New Roman" panose="02020603050405020304" pitchFamily="18" charset="0"/>
              </a:rPr>
              <a:t>Extracts title, main content, and relevant text from URLs</a:t>
            </a:r>
          </a:p>
          <a:p>
            <a:pPr algn="l">
              <a:spcBef>
                <a:spcPts val="150"/>
              </a:spcBef>
              <a:spcAft>
                <a:spcPts val="150"/>
              </a:spcAft>
              <a:buFont typeface="+mj-lt"/>
              <a:buAutoNum type="arabicPeriod" startAt="3"/>
            </a:pPr>
            <a:r>
              <a:rPr lang="en-US" sz="2200" b="1" i="0" dirty="0">
                <a:solidFill>
                  <a:schemeClr val="tx1"/>
                </a:solidFill>
                <a:effectLst/>
                <a:latin typeface="Times New Roman" panose="02020603050405020304" pitchFamily="18" charset="0"/>
                <a:cs typeface="Times New Roman" panose="02020603050405020304" pitchFamily="18" charset="0"/>
              </a:rPr>
              <a:t>Text Summarization</a:t>
            </a:r>
            <a:endParaRPr lang="en-US" sz="2200" b="0" i="0" dirty="0">
              <a:solidFill>
                <a:schemeClr val="tx1"/>
              </a:solidFill>
              <a:effectLst/>
              <a:latin typeface="Times New Roman" panose="02020603050405020304" pitchFamily="18" charset="0"/>
              <a:cs typeface="Times New Roman" panose="02020603050405020304" pitchFamily="18" charset="0"/>
            </a:endParaRPr>
          </a:p>
          <a:p>
            <a:pPr lvl="1" algn="l">
              <a:spcBef>
                <a:spcPts val="150"/>
              </a:spcBef>
              <a:spcAft>
                <a:spcPts val="150"/>
              </a:spcAft>
              <a:buFont typeface="Arial" panose="020B0604020202020204" pitchFamily="34" charset="0"/>
              <a:buChar char="•"/>
            </a:pPr>
            <a:r>
              <a:rPr lang="en-US" sz="1800" b="0" i="0" dirty="0">
                <a:solidFill>
                  <a:schemeClr val="tx1"/>
                </a:solidFill>
                <a:effectLst/>
                <a:latin typeface="Times New Roman" panose="02020603050405020304" pitchFamily="18" charset="0"/>
                <a:cs typeface="Times New Roman" panose="02020603050405020304" pitchFamily="18" charset="0"/>
              </a:rPr>
              <a:t>Natural Language Processing (NLP) techniques to generate concise summaries</a:t>
            </a:r>
          </a:p>
          <a:p>
            <a:pPr lvl="1" algn="l">
              <a:spcBef>
                <a:spcPts val="150"/>
              </a:spcBef>
              <a:spcAft>
                <a:spcPts val="150"/>
              </a:spcAft>
              <a:buFont typeface="Arial" panose="020B0604020202020204" pitchFamily="34" charset="0"/>
              <a:buChar char="•"/>
            </a:pPr>
            <a:r>
              <a:rPr lang="en-US" sz="1800" b="0" i="0" dirty="0">
                <a:solidFill>
                  <a:schemeClr val="tx1"/>
                </a:solidFill>
                <a:effectLst/>
                <a:latin typeface="Times New Roman" panose="02020603050405020304" pitchFamily="18" charset="0"/>
                <a:cs typeface="Times New Roman" panose="02020603050405020304" pitchFamily="18" charset="0"/>
              </a:rPr>
              <a:t>Possibly using libraries like NLTK, </a:t>
            </a:r>
            <a:r>
              <a:rPr lang="en-US" sz="1800" b="0" i="0" dirty="0" err="1">
                <a:solidFill>
                  <a:schemeClr val="tx1"/>
                </a:solidFill>
                <a:effectLst/>
                <a:latin typeface="Times New Roman" panose="02020603050405020304" pitchFamily="18" charset="0"/>
                <a:cs typeface="Times New Roman" panose="02020603050405020304" pitchFamily="18" charset="0"/>
              </a:rPr>
              <a:t>spaCy</a:t>
            </a:r>
            <a:r>
              <a:rPr lang="en-US" sz="1800" b="0" i="0" dirty="0">
                <a:solidFill>
                  <a:schemeClr val="tx1"/>
                </a:solidFill>
                <a:effectLst/>
                <a:latin typeface="Times New Roman" panose="02020603050405020304" pitchFamily="18" charset="0"/>
                <a:cs typeface="Times New Roman" panose="02020603050405020304" pitchFamily="18" charset="0"/>
              </a:rPr>
              <a:t>, or transformers-based models</a:t>
            </a:r>
          </a:p>
          <a:p>
            <a:pPr marR="0" lvl="0" algn="l" defTabSz="914400" rtl="0" eaLnBrk="0" fontAlgn="base" latinLnBrk="0" hangingPunct="0">
              <a:lnSpc>
                <a:spcPct val="100000"/>
              </a:lnSpc>
              <a:spcBef>
                <a:spcPct val="0"/>
              </a:spcBef>
              <a:spcAft>
                <a:spcPct val="0"/>
              </a:spcAft>
              <a:buClrTx/>
              <a:buSzTx/>
              <a:tabLst/>
            </a:pP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56877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24BDD-745B-B985-E1F7-05D43DAE8C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7E617C-7A4F-2E66-B1E7-B71E1FB8FEFA}"/>
              </a:ext>
            </a:extLst>
          </p:cNvPr>
          <p:cNvSpPr>
            <a:spLocks noGrp="1"/>
          </p:cNvSpPr>
          <p:nvPr>
            <p:ph type="ctrTitle"/>
          </p:nvPr>
        </p:nvSpPr>
        <p:spPr>
          <a:xfrm>
            <a:off x="609600" y="914400"/>
            <a:ext cx="7772400" cy="96081"/>
          </a:xfrm>
        </p:spPr>
        <p:txBody>
          <a:bodyPr>
            <a:normAutofit fontScale="90000"/>
          </a:bodyPr>
          <a:lstStyle/>
          <a:p>
            <a:r>
              <a:rPr lang="en-US" sz="3200" b="1" dirty="0">
                <a:latin typeface="Times New Roman" panose="02020603050405020304" pitchFamily="18" charset="0"/>
                <a:cs typeface="Times New Roman" panose="02020603050405020304" pitchFamily="18" charset="0"/>
              </a:rPr>
              <a:t>IMPLEMENTATION</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BACK END</a:t>
            </a:r>
          </a:p>
        </p:txBody>
      </p:sp>
      <p:sp>
        <p:nvSpPr>
          <p:cNvPr id="4" name="Rectangle 1">
            <a:extLst>
              <a:ext uri="{FF2B5EF4-FFF2-40B4-BE49-F238E27FC236}">
                <a16:creationId xmlns:a16="http://schemas.microsoft.com/office/drawing/2014/main" id="{46EA2491-20AB-D2F8-62E3-4D38639ED7E9}"/>
              </a:ext>
            </a:extLst>
          </p:cNvPr>
          <p:cNvSpPr>
            <a:spLocks noGrp="1" noChangeArrowheads="1"/>
          </p:cNvSpPr>
          <p:nvPr>
            <p:ph type="subTitle" idx="1"/>
          </p:nvPr>
        </p:nvSpPr>
        <p:spPr bwMode="auto">
          <a:xfrm>
            <a:off x="609600" y="1524000"/>
            <a:ext cx="8229600" cy="3180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l">
              <a:spcBef>
                <a:spcPts val="150"/>
              </a:spcBef>
              <a:spcAft>
                <a:spcPts val="150"/>
              </a:spcAft>
              <a:buFont typeface="+mj-lt"/>
              <a:buAutoNum type="arabicPeriod" startAt="4"/>
            </a:pPr>
            <a:r>
              <a:rPr lang="en-US" sz="2200" b="1" i="0" dirty="0">
                <a:solidFill>
                  <a:schemeClr val="tx1"/>
                </a:solidFill>
                <a:effectLst/>
                <a:latin typeface="Times New Roman" panose="02020603050405020304" pitchFamily="18" charset="0"/>
                <a:cs typeface="Times New Roman" panose="02020603050405020304" pitchFamily="18" charset="0"/>
              </a:rPr>
              <a:t>Translation Services</a:t>
            </a:r>
            <a:endParaRPr lang="en-US" sz="2200" b="0" i="0" dirty="0">
              <a:solidFill>
                <a:schemeClr val="tx1"/>
              </a:solidFill>
              <a:effectLst/>
              <a:latin typeface="Times New Roman" panose="02020603050405020304" pitchFamily="18" charset="0"/>
              <a:cs typeface="Times New Roman" panose="02020603050405020304" pitchFamily="18" charset="0"/>
            </a:endParaRPr>
          </a:p>
          <a:p>
            <a:pPr lvl="1" algn="l">
              <a:spcBef>
                <a:spcPts val="150"/>
              </a:spcBef>
              <a:spcAft>
                <a:spcPts val="150"/>
              </a:spcAft>
              <a:buFont typeface="Arial" panose="020B0604020202020204" pitchFamily="34" charset="0"/>
              <a:buChar char="•"/>
            </a:pPr>
            <a:r>
              <a:rPr lang="en-US" sz="1800" b="0" i="0" dirty="0" err="1">
                <a:solidFill>
                  <a:schemeClr val="tx1"/>
                </a:solidFill>
                <a:effectLst/>
                <a:latin typeface="Times New Roman" panose="02020603050405020304" pitchFamily="18" charset="0"/>
                <a:cs typeface="Times New Roman" panose="02020603050405020304" pitchFamily="18" charset="0"/>
              </a:rPr>
              <a:t>LibreTranslate</a:t>
            </a:r>
            <a:r>
              <a:rPr lang="en-US" sz="1800" b="0" i="0" dirty="0">
                <a:solidFill>
                  <a:schemeClr val="tx1"/>
                </a:solidFill>
                <a:effectLst/>
                <a:latin typeface="Times New Roman" panose="02020603050405020304" pitchFamily="18" charset="0"/>
                <a:cs typeface="Times New Roman" panose="02020603050405020304" pitchFamily="18" charset="0"/>
              </a:rPr>
              <a:t> API integration for translating content between languages</a:t>
            </a:r>
          </a:p>
          <a:p>
            <a:pPr lvl="1" algn="l">
              <a:spcBef>
                <a:spcPts val="150"/>
              </a:spcBef>
              <a:spcAft>
                <a:spcPts val="150"/>
              </a:spcAft>
              <a:buFont typeface="Arial" panose="020B0604020202020204" pitchFamily="34" charset="0"/>
              <a:buChar char="•"/>
            </a:pPr>
            <a:r>
              <a:rPr lang="en-US" sz="1800" b="0" i="0" dirty="0">
                <a:solidFill>
                  <a:schemeClr val="tx1"/>
                </a:solidFill>
                <a:effectLst/>
                <a:latin typeface="Times New Roman" panose="02020603050405020304" pitchFamily="18" charset="0"/>
                <a:cs typeface="Times New Roman" panose="02020603050405020304" pitchFamily="18" charset="0"/>
              </a:rPr>
              <a:t>Supports multiple languages including English, Hindi, and Kannada</a:t>
            </a:r>
          </a:p>
          <a:p>
            <a:pPr algn="l">
              <a:spcBef>
                <a:spcPts val="150"/>
              </a:spcBef>
              <a:spcAft>
                <a:spcPts val="150"/>
              </a:spcAft>
              <a:buFont typeface="+mj-lt"/>
              <a:buAutoNum type="arabicPeriod" startAt="5"/>
            </a:pPr>
            <a:r>
              <a:rPr lang="en-US" sz="2200" b="1" i="0" dirty="0">
                <a:solidFill>
                  <a:schemeClr val="tx1"/>
                </a:solidFill>
                <a:effectLst/>
                <a:latin typeface="Times New Roman" panose="02020603050405020304" pitchFamily="18" charset="0"/>
                <a:cs typeface="Times New Roman" panose="02020603050405020304" pitchFamily="18" charset="0"/>
              </a:rPr>
              <a:t>Braille Conversion</a:t>
            </a:r>
            <a:endParaRPr lang="en-US" sz="2200" b="0" i="0" dirty="0">
              <a:solidFill>
                <a:schemeClr val="tx1"/>
              </a:solidFill>
              <a:effectLst/>
              <a:latin typeface="Times New Roman" panose="02020603050405020304" pitchFamily="18" charset="0"/>
              <a:cs typeface="Times New Roman" panose="02020603050405020304" pitchFamily="18" charset="0"/>
            </a:endParaRPr>
          </a:p>
          <a:p>
            <a:pPr lvl="1" algn="l">
              <a:spcBef>
                <a:spcPts val="150"/>
              </a:spcBef>
              <a:spcAft>
                <a:spcPts val="150"/>
              </a:spcAft>
              <a:buFont typeface="Arial" panose="020B0604020202020204" pitchFamily="34" charset="0"/>
              <a:buChar char="•"/>
            </a:pPr>
            <a:r>
              <a:rPr lang="en-US" sz="1800" b="0" i="0" dirty="0">
                <a:solidFill>
                  <a:schemeClr val="tx1"/>
                </a:solidFill>
                <a:effectLst/>
                <a:latin typeface="Times New Roman" panose="02020603050405020304" pitchFamily="18" charset="0"/>
                <a:cs typeface="Times New Roman" panose="02020603050405020304" pitchFamily="18" charset="0"/>
              </a:rPr>
              <a:t>Custom implementation for converting text to Braille patterns</a:t>
            </a:r>
          </a:p>
          <a:p>
            <a:pPr lvl="1" algn="l">
              <a:spcBef>
                <a:spcPts val="150"/>
              </a:spcBef>
              <a:spcAft>
                <a:spcPts val="150"/>
              </a:spcAft>
              <a:buFont typeface="Arial" panose="020B0604020202020204" pitchFamily="34" charset="0"/>
              <a:buChar char="•"/>
            </a:pPr>
            <a:r>
              <a:rPr lang="en-US" sz="1800" b="0" i="0" dirty="0">
                <a:solidFill>
                  <a:schemeClr val="tx1"/>
                </a:solidFill>
                <a:effectLst/>
                <a:latin typeface="Times New Roman" panose="02020603050405020304" pitchFamily="18" charset="0"/>
                <a:cs typeface="Times New Roman" panose="02020603050405020304" pitchFamily="18" charset="0"/>
              </a:rPr>
              <a:t>Specialized handling for different language scripts</a:t>
            </a:r>
          </a:p>
          <a:p>
            <a:pPr algn="l">
              <a:spcBef>
                <a:spcPts val="150"/>
              </a:spcBef>
              <a:spcAft>
                <a:spcPts val="150"/>
              </a:spcAft>
              <a:buFont typeface="+mj-lt"/>
              <a:buAutoNum type="arabicPeriod" startAt="6"/>
            </a:pPr>
            <a:r>
              <a:rPr lang="en-US" sz="2200" b="1" i="0" dirty="0">
                <a:solidFill>
                  <a:schemeClr val="tx1"/>
                </a:solidFill>
                <a:effectLst/>
                <a:latin typeface="Times New Roman" panose="02020603050405020304" pitchFamily="18" charset="0"/>
                <a:cs typeface="Times New Roman" panose="02020603050405020304" pitchFamily="18" charset="0"/>
              </a:rPr>
              <a:t>Text-to-Speech</a:t>
            </a:r>
            <a:endParaRPr lang="en-US" sz="2200" b="0" i="0" dirty="0">
              <a:solidFill>
                <a:schemeClr val="tx1"/>
              </a:solidFill>
              <a:effectLst/>
              <a:latin typeface="Times New Roman" panose="02020603050405020304" pitchFamily="18" charset="0"/>
              <a:cs typeface="Times New Roman" panose="02020603050405020304" pitchFamily="18" charset="0"/>
            </a:endParaRPr>
          </a:p>
          <a:p>
            <a:pPr lvl="1" algn="l">
              <a:spcBef>
                <a:spcPts val="150"/>
              </a:spcBef>
              <a:spcAft>
                <a:spcPts val="150"/>
              </a:spcAft>
              <a:buFont typeface="Arial" panose="020B0604020202020204" pitchFamily="34" charset="0"/>
              <a:buChar char="•"/>
            </a:pPr>
            <a:r>
              <a:rPr lang="en-US" sz="1800" b="0" i="0" dirty="0">
                <a:solidFill>
                  <a:schemeClr val="tx1"/>
                </a:solidFill>
                <a:effectLst/>
                <a:latin typeface="Times New Roman" panose="02020603050405020304" pitchFamily="18" charset="0"/>
                <a:cs typeface="Times New Roman" panose="02020603050405020304" pitchFamily="18" charset="0"/>
              </a:rPr>
              <a:t>Audio generation for the summary content</a:t>
            </a:r>
          </a:p>
          <a:p>
            <a:pPr lvl="1" algn="l">
              <a:spcBef>
                <a:spcPts val="150"/>
              </a:spcBef>
              <a:spcAft>
                <a:spcPts val="150"/>
              </a:spcAft>
              <a:buFont typeface="Arial" panose="020B0604020202020204" pitchFamily="34" charset="0"/>
              <a:buChar char="•"/>
            </a:pPr>
            <a:r>
              <a:rPr lang="en-US" sz="1800" b="0" i="0" dirty="0">
                <a:solidFill>
                  <a:schemeClr val="tx1"/>
                </a:solidFill>
                <a:effectLst/>
                <a:latin typeface="Times New Roman" panose="02020603050405020304" pitchFamily="18" charset="0"/>
                <a:cs typeface="Times New Roman" panose="02020603050405020304" pitchFamily="18" charset="0"/>
              </a:rPr>
              <a:t>Likely using a TTS library or service to create MP3 audio</a:t>
            </a:r>
          </a:p>
        </p:txBody>
      </p:sp>
    </p:spTree>
    <p:extLst>
      <p:ext uri="{BB962C8B-B14F-4D97-AF65-F5344CB8AC3E}">
        <p14:creationId xmlns:p14="http://schemas.microsoft.com/office/powerpoint/2010/main" val="31916013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E260C-8599-FADA-2835-82E00F0413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3D3AD0-CDAF-449A-73DE-C138329074A8}"/>
              </a:ext>
            </a:extLst>
          </p:cNvPr>
          <p:cNvSpPr>
            <a:spLocks noGrp="1"/>
          </p:cNvSpPr>
          <p:nvPr>
            <p:ph type="ctrTitle"/>
          </p:nvPr>
        </p:nvSpPr>
        <p:spPr>
          <a:xfrm>
            <a:off x="609600" y="914400"/>
            <a:ext cx="7772400" cy="96081"/>
          </a:xfrm>
        </p:spPr>
        <p:txBody>
          <a:bodyPr>
            <a:normAutofit fontScale="90000"/>
          </a:bodyPr>
          <a:lstStyle/>
          <a:p>
            <a:r>
              <a:rPr lang="en-US" sz="3200" b="1" dirty="0">
                <a:latin typeface="Times New Roman" panose="02020603050405020304" pitchFamily="18" charset="0"/>
                <a:cs typeface="Times New Roman" panose="02020603050405020304" pitchFamily="18" charset="0"/>
              </a:rPr>
              <a:t>IMPLEMENTATION</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FRONT END</a:t>
            </a:r>
          </a:p>
        </p:txBody>
      </p:sp>
      <p:sp>
        <p:nvSpPr>
          <p:cNvPr id="4" name="Rectangle 1">
            <a:extLst>
              <a:ext uri="{FF2B5EF4-FFF2-40B4-BE49-F238E27FC236}">
                <a16:creationId xmlns:a16="http://schemas.microsoft.com/office/drawing/2014/main" id="{1F966C45-5D6D-0E87-73C4-934D7AAEB9A8}"/>
              </a:ext>
            </a:extLst>
          </p:cNvPr>
          <p:cNvSpPr>
            <a:spLocks noGrp="1" noChangeArrowheads="1"/>
          </p:cNvSpPr>
          <p:nvPr>
            <p:ph type="subTitle" idx="1"/>
          </p:nvPr>
        </p:nvSpPr>
        <p:spPr bwMode="auto">
          <a:xfrm>
            <a:off x="609600" y="1708666"/>
            <a:ext cx="8229600" cy="3570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l">
              <a:spcBef>
                <a:spcPts val="150"/>
              </a:spcBef>
              <a:spcAft>
                <a:spcPts val="150"/>
              </a:spcAft>
              <a:buFont typeface="+mj-lt"/>
              <a:buAutoNum type="arabicPeriod"/>
            </a:pPr>
            <a:r>
              <a:rPr lang="en-IN" sz="2200" b="1" dirty="0">
                <a:solidFill>
                  <a:schemeClr val="tx1"/>
                </a:solidFill>
                <a:effectLst/>
                <a:latin typeface="Times New Roman" panose="02020603050405020304" pitchFamily="18" charset="0"/>
                <a:cs typeface="Times New Roman" panose="02020603050405020304" pitchFamily="18" charset="0"/>
              </a:rPr>
              <a:t>Modern UI Framework</a:t>
            </a:r>
            <a:endParaRPr lang="en-IN" sz="2200" dirty="0">
              <a:solidFill>
                <a:schemeClr val="tx1"/>
              </a:solidFill>
              <a:effectLst/>
              <a:latin typeface="Times New Roman" panose="02020603050405020304" pitchFamily="18" charset="0"/>
              <a:cs typeface="Times New Roman" panose="02020603050405020304" pitchFamily="18" charset="0"/>
            </a:endParaRPr>
          </a:p>
          <a:p>
            <a:pPr lvl="1" algn="l">
              <a:spcBef>
                <a:spcPts val="150"/>
              </a:spcBef>
              <a:spcAft>
                <a:spcPts val="150"/>
              </a:spcAft>
              <a:buFont typeface="Arial" panose="020B0604020202020204" pitchFamily="34" charset="0"/>
              <a:buChar char="•"/>
            </a:pPr>
            <a:r>
              <a:rPr lang="en-IN" sz="1800" dirty="0">
                <a:solidFill>
                  <a:schemeClr val="tx1"/>
                </a:solidFill>
                <a:effectLst/>
                <a:latin typeface="Times New Roman" panose="02020603050405020304" pitchFamily="18" charset="0"/>
                <a:cs typeface="Times New Roman" panose="02020603050405020304" pitchFamily="18" charset="0"/>
              </a:rPr>
              <a:t>Bootstrap 5 for responsive layout and components</a:t>
            </a:r>
          </a:p>
          <a:p>
            <a:pPr lvl="1" algn="l">
              <a:spcBef>
                <a:spcPts val="150"/>
              </a:spcBef>
              <a:spcAft>
                <a:spcPts val="150"/>
              </a:spcAft>
              <a:buFont typeface="Arial" panose="020B0604020202020204" pitchFamily="34" charset="0"/>
              <a:buChar char="•"/>
            </a:pPr>
            <a:r>
              <a:rPr lang="en-IN" sz="1800" dirty="0">
                <a:solidFill>
                  <a:schemeClr val="tx1"/>
                </a:solidFill>
                <a:effectLst/>
                <a:latin typeface="Times New Roman" panose="02020603050405020304" pitchFamily="18" charset="0"/>
                <a:cs typeface="Times New Roman" panose="02020603050405020304" pitchFamily="18" charset="0"/>
              </a:rPr>
              <a:t>Custom CSS with variables for theming and consistent styling</a:t>
            </a:r>
          </a:p>
          <a:p>
            <a:pPr algn="l">
              <a:spcBef>
                <a:spcPts val="150"/>
              </a:spcBef>
              <a:spcAft>
                <a:spcPts val="150"/>
              </a:spcAft>
              <a:buFont typeface="+mj-lt"/>
              <a:buAutoNum type="arabicPeriod" startAt="2"/>
            </a:pPr>
            <a:r>
              <a:rPr lang="en-IN" sz="2200" b="1" dirty="0">
                <a:solidFill>
                  <a:schemeClr val="tx1"/>
                </a:solidFill>
                <a:effectLst/>
                <a:latin typeface="Times New Roman" panose="02020603050405020304" pitchFamily="18" charset="0"/>
                <a:cs typeface="Times New Roman" panose="02020603050405020304" pitchFamily="18" charset="0"/>
              </a:rPr>
              <a:t>Interactive Elements</a:t>
            </a:r>
            <a:endParaRPr lang="en-IN" sz="2200" dirty="0">
              <a:solidFill>
                <a:schemeClr val="tx1"/>
              </a:solidFill>
              <a:effectLst/>
              <a:latin typeface="Times New Roman" panose="02020603050405020304" pitchFamily="18" charset="0"/>
              <a:cs typeface="Times New Roman" panose="02020603050405020304" pitchFamily="18" charset="0"/>
            </a:endParaRPr>
          </a:p>
          <a:p>
            <a:pPr lvl="1" algn="l">
              <a:spcBef>
                <a:spcPts val="150"/>
              </a:spcBef>
              <a:spcAft>
                <a:spcPts val="150"/>
              </a:spcAft>
              <a:buFont typeface="Arial" panose="020B0604020202020204" pitchFamily="34" charset="0"/>
              <a:buChar char="•"/>
            </a:pPr>
            <a:r>
              <a:rPr lang="en-IN" sz="1800" dirty="0">
                <a:solidFill>
                  <a:schemeClr val="tx1"/>
                </a:solidFill>
                <a:effectLst/>
                <a:latin typeface="Times New Roman" panose="02020603050405020304" pitchFamily="18" charset="0"/>
                <a:cs typeface="Times New Roman" panose="02020603050405020304" pitchFamily="18" charset="0"/>
              </a:rPr>
              <a:t>Form handling for URL submission</a:t>
            </a:r>
          </a:p>
          <a:p>
            <a:pPr lvl="1" algn="l">
              <a:spcBef>
                <a:spcPts val="150"/>
              </a:spcBef>
              <a:spcAft>
                <a:spcPts val="150"/>
              </a:spcAft>
              <a:buFont typeface="Arial" panose="020B0604020202020204" pitchFamily="34" charset="0"/>
              <a:buChar char="•"/>
            </a:pPr>
            <a:r>
              <a:rPr lang="en-IN" sz="1800" dirty="0">
                <a:solidFill>
                  <a:schemeClr val="tx1"/>
                </a:solidFill>
                <a:effectLst/>
                <a:latin typeface="Times New Roman" panose="02020603050405020304" pitchFamily="18" charset="0"/>
                <a:cs typeface="Times New Roman" panose="02020603050405020304" pitchFamily="18" charset="0"/>
              </a:rPr>
              <a:t>Language selection dropdown</a:t>
            </a:r>
          </a:p>
          <a:p>
            <a:pPr lvl="1" algn="l">
              <a:spcBef>
                <a:spcPts val="150"/>
              </a:spcBef>
              <a:spcAft>
                <a:spcPts val="150"/>
              </a:spcAft>
              <a:buFont typeface="Arial" panose="020B0604020202020204" pitchFamily="34" charset="0"/>
              <a:buChar char="•"/>
            </a:pPr>
            <a:r>
              <a:rPr lang="en-IN" sz="1800" dirty="0">
                <a:solidFill>
                  <a:schemeClr val="tx1"/>
                </a:solidFill>
                <a:effectLst/>
                <a:latin typeface="Times New Roman" panose="02020603050405020304" pitchFamily="18" charset="0"/>
                <a:cs typeface="Times New Roman" panose="02020603050405020304" pitchFamily="18" charset="0"/>
              </a:rPr>
              <a:t>Loading indicators and error handling</a:t>
            </a:r>
          </a:p>
          <a:p>
            <a:pPr algn="l">
              <a:spcBef>
                <a:spcPts val="150"/>
              </a:spcBef>
              <a:spcAft>
                <a:spcPts val="150"/>
              </a:spcAft>
              <a:buFont typeface="+mj-lt"/>
              <a:buAutoNum type="arabicPeriod" startAt="3"/>
            </a:pPr>
            <a:r>
              <a:rPr lang="en-IN" sz="2200" b="1" dirty="0">
                <a:solidFill>
                  <a:schemeClr val="tx1"/>
                </a:solidFill>
                <a:effectLst/>
                <a:latin typeface="Times New Roman" panose="02020603050405020304" pitchFamily="18" charset="0"/>
                <a:cs typeface="Times New Roman" panose="02020603050405020304" pitchFamily="18" charset="0"/>
              </a:rPr>
              <a:t>Document Generation</a:t>
            </a:r>
            <a:endParaRPr lang="en-IN" sz="2200" dirty="0">
              <a:solidFill>
                <a:schemeClr val="tx1"/>
              </a:solidFill>
              <a:effectLst/>
              <a:latin typeface="Times New Roman" panose="02020603050405020304" pitchFamily="18" charset="0"/>
              <a:cs typeface="Times New Roman" panose="02020603050405020304" pitchFamily="18" charset="0"/>
            </a:endParaRPr>
          </a:p>
          <a:p>
            <a:pPr lvl="1" algn="l">
              <a:spcBef>
                <a:spcPts val="150"/>
              </a:spcBef>
              <a:spcAft>
                <a:spcPts val="150"/>
              </a:spcAft>
              <a:buFont typeface="Arial" panose="020B0604020202020204" pitchFamily="34" charset="0"/>
              <a:buChar char="•"/>
            </a:pPr>
            <a:r>
              <a:rPr lang="en-IN" sz="1800" dirty="0">
                <a:solidFill>
                  <a:schemeClr val="tx1"/>
                </a:solidFill>
                <a:effectLst/>
                <a:latin typeface="Times New Roman" panose="02020603050405020304" pitchFamily="18" charset="0"/>
                <a:cs typeface="Times New Roman" panose="02020603050405020304" pitchFamily="18" charset="0"/>
              </a:rPr>
              <a:t>Word document generation using HTML-to-DOC conversion</a:t>
            </a:r>
          </a:p>
          <a:p>
            <a:pPr lvl="1" algn="l">
              <a:spcBef>
                <a:spcPts val="150"/>
              </a:spcBef>
              <a:spcAft>
                <a:spcPts val="150"/>
              </a:spcAft>
              <a:buFont typeface="Arial" panose="020B0604020202020204" pitchFamily="34" charset="0"/>
              <a:buChar char="•"/>
            </a:pPr>
            <a:r>
              <a:rPr lang="en-IN" sz="1800" dirty="0">
                <a:solidFill>
                  <a:schemeClr val="tx1"/>
                </a:solidFill>
                <a:effectLst/>
                <a:latin typeface="Times New Roman" panose="02020603050405020304" pitchFamily="18" charset="0"/>
                <a:cs typeface="Times New Roman" panose="02020603050405020304" pitchFamily="18" charset="0"/>
              </a:rPr>
              <a:t>Text file generation for plain text output</a:t>
            </a:r>
          </a:p>
        </p:txBody>
      </p:sp>
    </p:spTree>
    <p:extLst>
      <p:ext uri="{BB962C8B-B14F-4D97-AF65-F5344CB8AC3E}">
        <p14:creationId xmlns:p14="http://schemas.microsoft.com/office/powerpoint/2010/main" val="2150068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E640F-6A5A-FBBF-77C4-38F42AAC45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0DBFAA-DD58-DA03-8B91-A87CE1368A47}"/>
              </a:ext>
            </a:extLst>
          </p:cNvPr>
          <p:cNvSpPr>
            <a:spLocks noGrp="1"/>
          </p:cNvSpPr>
          <p:nvPr>
            <p:ph type="ctrTitle"/>
          </p:nvPr>
        </p:nvSpPr>
        <p:spPr>
          <a:xfrm>
            <a:off x="609600" y="914400"/>
            <a:ext cx="7772400" cy="96081"/>
          </a:xfrm>
        </p:spPr>
        <p:txBody>
          <a:bodyPr>
            <a:normAutofit fontScale="90000"/>
          </a:bodyPr>
          <a:lstStyle/>
          <a:p>
            <a:r>
              <a:rPr lang="en-US" sz="3200" b="1" dirty="0">
                <a:latin typeface="Times New Roman" panose="02020603050405020304" pitchFamily="18" charset="0"/>
                <a:cs typeface="Times New Roman" panose="02020603050405020304" pitchFamily="18" charset="0"/>
              </a:rPr>
              <a:t>IMPLEMENTATION</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FRONT END</a:t>
            </a:r>
          </a:p>
        </p:txBody>
      </p:sp>
      <p:sp>
        <p:nvSpPr>
          <p:cNvPr id="4" name="Rectangle 1">
            <a:extLst>
              <a:ext uri="{FF2B5EF4-FFF2-40B4-BE49-F238E27FC236}">
                <a16:creationId xmlns:a16="http://schemas.microsoft.com/office/drawing/2014/main" id="{D6978BE3-F1E3-9404-80DA-3E399B20351E}"/>
              </a:ext>
            </a:extLst>
          </p:cNvPr>
          <p:cNvSpPr>
            <a:spLocks noGrp="1" noChangeArrowheads="1"/>
          </p:cNvSpPr>
          <p:nvPr>
            <p:ph type="subTitle" idx="1"/>
          </p:nvPr>
        </p:nvSpPr>
        <p:spPr bwMode="auto">
          <a:xfrm>
            <a:off x="617974" y="1784866"/>
            <a:ext cx="8229600" cy="3570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l">
              <a:spcBef>
                <a:spcPts val="150"/>
              </a:spcBef>
              <a:spcAft>
                <a:spcPts val="150"/>
              </a:spcAft>
              <a:buFont typeface="+mj-lt"/>
              <a:buAutoNum type="arabicPeriod" startAt="4"/>
            </a:pPr>
            <a:r>
              <a:rPr lang="en-IN" sz="2200" b="1" dirty="0">
                <a:solidFill>
                  <a:schemeClr val="tx1"/>
                </a:solidFill>
                <a:effectLst/>
                <a:latin typeface="Times New Roman" panose="02020603050405020304" pitchFamily="18" charset="0"/>
                <a:cs typeface="Times New Roman" panose="02020603050405020304" pitchFamily="18" charset="0"/>
              </a:rPr>
              <a:t>Copy to Clipboard Functionality</a:t>
            </a:r>
            <a:endParaRPr lang="en-IN" sz="2200" dirty="0">
              <a:solidFill>
                <a:schemeClr val="tx1"/>
              </a:solidFill>
              <a:effectLst/>
              <a:latin typeface="Times New Roman" panose="02020603050405020304" pitchFamily="18" charset="0"/>
              <a:cs typeface="Times New Roman" panose="02020603050405020304" pitchFamily="18" charset="0"/>
            </a:endParaRPr>
          </a:p>
          <a:p>
            <a:pPr lvl="1" algn="l">
              <a:spcBef>
                <a:spcPts val="150"/>
              </a:spcBef>
              <a:spcAft>
                <a:spcPts val="150"/>
              </a:spcAft>
              <a:buFont typeface="Arial" panose="020B0604020202020204" pitchFamily="34" charset="0"/>
              <a:buChar char="•"/>
            </a:pPr>
            <a:r>
              <a:rPr lang="en-IN" sz="1800" dirty="0">
                <a:solidFill>
                  <a:schemeClr val="tx1"/>
                </a:solidFill>
                <a:effectLst/>
                <a:latin typeface="Times New Roman" panose="02020603050405020304" pitchFamily="18" charset="0"/>
                <a:cs typeface="Times New Roman" panose="02020603050405020304" pitchFamily="18" charset="0"/>
              </a:rPr>
              <a:t>JavaScript implementation for copying Braille output</a:t>
            </a:r>
          </a:p>
          <a:p>
            <a:pPr algn="l">
              <a:spcBef>
                <a:spcPts val="150"/>
              </a:spcBef>
              <a:spcAft>
                <a:spcPts val="150"/>
              </a:spcAft>
              <a:buFont typeface="+mj-lt"/>
              <a:buAutoNum type="arabicPeriod" startAt="5"/>
            </a:pPr>
            <a:r>
              <a:rPr lang="en-IN" sz="2200" b="1" dirty="0">
                <a:solidFill>
                  <a:schemeClr val="tx1"/>
                </a:solidFill>
                <a:effectLst/>
                <a:latin typeface="Times New Roman" panose="02020603050405020304" pitchFamily="18" charset="0"/>
                <a:cs typeface="Times New Roman" panose="02020603050405020304" pitchFamily="18" charset="0"/>
              </a:rPr>
              <a:t>Audio Playback</a:t>
            </a:r>
            <a:endParaRPr lang="en-IN" sz="2200" dirty="0">
              <a:solidFill>
                <a:schemeClr val="tx1"/>
              </a:solidFill>
              <a:effectLst/>
              <a:latin typeface="Times New Roman" panose="02020603050405020304" pitchFamily="18" charset="0"/>
              <a:cs typeface="Times New Roman" panose="02020603050405020304" pitchFamily="18" charset="0"/>
            </a:endParaRPr>
          </a:p>
          <a:p>
            <a:pPr lvl="1" algn="l">
              <a:spcBef>
                <a:spcPts val="150"/>
              </a:spcBef>
              <a:spcAft>
                <a:spcPts val="150"/>
              </a:spcAft>
              <a:buFont typeface="Arial" panose="020B0604020202020204" pitchFamily="34" charset="0"/>
              <a:buChar char="•"/>
            </a:pPr>
            <a:r>
              <a:rPr lang="en-IN" sz="1800" dirty="0">
                <a:solidFill>
                  <a:schemeClr val="tx1"/>
                </a:solidFill>
                <a:effectLst/>
                <a:latin typeface="Times New Roman" panose="02020603050405020304" pitchFamily="18" charset="0"/>
                <a:cs typeface="Times New Roman" panose="02020603050405020304" pitchFamily="18" charset="0"/>
              </a:rPr>
              <a:t>HTML5 audio player for TTS output</a:t>
            </a:r>
          </a:p>
          <a:p>
            <a:pPr lvl="1" algn="l">
              <a:spcBef>
                <a:spcPts val="150"/>
              </a:spcBef>
              <a:spcAft>
                <a:spcPts val="150"/>
              </a:spcAft>
              <a:buFont typeface="Arial" panose="020B0604020202020204" pitchFamily="34" charset="0"/>
              <a:buChar char="•"/>
            </a:pPr>
            <a:r>
              <a:rPr lang="en-IN" sz="1800" dirty="0">
                <a:solidFill>
                  <a:schemeClr val="tx1"/>
                </a:solidFill>
                <a:effectLst/>
                <a:latin typeface="Times New Roman" panose="02020603050405020304" pitchFamily="18" charset="0"/>
                <a:cs typeface="Times New Roman" panose="02020603050405020304" pitchFamily="18" charset="0"/>
              </a:rPr>
              <a:t>Custom play button with visual feedback</a:t>
            </a:r>
          </a:p>
          <a:p>
            <a:pPr algn="l">
              <a:spcBef>
                <a:spcPts val="150"/>
              </a:spcBef>
              <a:spcAft>
                <a:spcPts val="150"/>
              </a:spcAft>
              <a:buFont typeface="+mj-lt"/>
              <a:buAutoNum type="arabicPeriod" startAt="6"/>
            </a:pPr>
            <a:r>
              <a:rPr lang="en-IN" sz="2200" b="1" dirty="0">
                <a:solidFill>
                  <a:schemeClr val="tx1"/>
                </a:solidFill>
                <a:effectLst/>
                <a:latin typeface="Times New Roman" panose="02020603050405020304" pitchFamily="18" charset="0"/>
                <a:cs typeface="Times New Roman" panose="02020603050405020304" pitchFamily="18" charset="0"/>
              </a:rPr>
              <a:t>Visual Design</a:t>
            </a:r>
            <a:endParaRPr lang="en-IN" sz="2200" dirty="0">
              <a:solidFill>
                <a:schemeClr val="tx1"/>
              </a:solidFill>
              <a:effectLst/>
              <a:latin typeface="Times New Roman" panose="02020603050405020304" pitchFamily="18" charset="0"/>
              <a:cs typeface="Times New Roman" panose="02020603050405020304" pitchFamily="18" charset="0"/>
            </a:endParaRPr>
          </a:p>
          <a:p>
            <a:pPr lvl="1" algn="l">
              <a:spcBef>
                <a:spcPts val="150"/>
              </a:spcBef>
              <a:spcAft>
                <a:spcPts val="150"/>
              </a:spcAft>
              <a:buFont typeface="Arial" panose="020B0604020202020204" pitchFamily="34" charset="0"/>
              <a:buChar char="•"/>
            </a:pPr>
            <a:r>
              <a:rPr lang="en-IN" sz="1800" dirty="0">
                <a:solidFill>
                  <a:schemeClr val="tx1"/>
                </a:solidFill>
                <a:effectLst/>
                <a:latin typeface="Times New Roman" panose="02020603050405020304" pitchFamily="18" charset="0"/>
                <a:cs typeface="Times New Roman" panose="02020603050405020304" pitchFamily="18" charset="0"/>
              </a:rPr>
              <a:t>Dark tech-themed UI with gradient effects</a:t>
            </a:r>
          </a:p>
          <a:p>
            <a:pPr lvl="1" algn="l">
              <a:spcBef>
                <a:spcPts val="150"/>
              </a:spcBef>
              <a:spcAft>
                <a:spcPts val="150"/>
              </a:spcAft>
              <a:buFont typeface="Arial" panose="020B0604020202020204" pitchFamily="34" charset="0"/>
              <a:buChar char="•"/>
            </a:pPr>
            <a:r>
              <a:rPr lang="en-IN" sz="1800" dirty="0">
                <a:solidFill>
                  <a:schemeClr val="tx1"/>
                </a:solidFill>
                <a:effectLst/>
                <a:latin typeface="Times New Roman" panose="02020603050405020304" pitchFamily="18" charset="0"/>
                <a:cs typeface="Times New Roman" panose="02020603050405020304" pitchFamily="18" charset="0"/>
              </a:rPr>
              <a:t>Card-based layout for content organization</a:t>
            </a:r>
          </a:p>
          <a:p>
            <a:pPr lvl="1" algn="l">
              <a:spcBef>
                <a:spcPts val="150"/>
              </a:spcBef>
              <a:spcAft>
                <a:spcPts val="150"/>
              </a:spcAft>
              <a:buFont typeface="Arial" panose="020B0604020202020204" pitchFamily="34" charset="0"/>
              <a:buChar char="•"/>
            </a:pPr>
            <a:r>
              <a:rPr lang="en-IN" sz="1800" dirty="0">
                <a:solidFill>
                  <a:schemeClr val="tx1"/>
                </a:solidFill>
                <a:effectLst/>
                <a:latin typeface="Times New Roman" panose="02020603050405020304" pitchFamily="18" charset="0"/>
                <a:cs typeface="Times New Roman" panose="02020603050405020304" pitchFamily="18" charset="0"/>
              </a:rPr>
              <a:t>Responsive design for different screen sizes</a:t>
            </a:r>
          </a:p>
          <a:p>
            <a:pPr lvl="1" algn="l">
              <a:spcBef>
                <a:spcPts val="150"/>
              </a:spcBef>
              <a:spcAft>
                <a:spcPts val="150"/>
              </a:spcAft>
              <a:buFont typeface="Arial" panose="020B0604020202020204" pitchFamily="34" charset="0"/>
              <a:buChar char="•"/>
            </a:pPr>
            <a:r>
              <a:rPr lang="en-IN" sz="1800" dirty="0">
                <a:solidFill>
                  <a:schemeClr val="tx1"/>
                </a:solidFill>
                <a:effectLst/>
                <a:latin typeface="Times New Roman" panose="02020603050405020304" pitchFamily="18" charset="0"/>
                <a:cs typeface="Times New Roman" panose="02020603050405020304" pitchFamily="18" charset="0"/>
              </a:rPr>
              <a:t>Animation effects for better user experience</a:t>
            </a:r>
          </a:p>
        </p:txBody>
      </p:sp>
    </p:spTree>
    <p:extLst>
      <p:ext uri="{BB962C8B-B14F-4D97-AF65-F5344CB8AC3E}">
        <p14:creationId xmlns:p14="http://schemas.microsoft.com/office/powerpoint/2010/main" val="25236039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79428-B01A-8958-C537-25B9DBAD3D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2618F1-4643-5703-2136-8AB77A57FE1A}"/>
              </a:ext>
            </a:extLst>
          </p:cNvPr>
          <p:cNvSpPr>
            <a:spLocks noGrp="1"/>
          </p:cNvSpPr>
          <p:nvPr>
            <p:ph type="ctrTitle"/>
          </p:nvPr>
        </p:nvSpPr>
        <p:spPr>
          <a:xfrm>
            <a:off x="609600" y="564844"/>
            <a:ext cx="7772400" cy="96081"/>
          </a:xfrm>
        </p:spPr>
        <p:txBody>
          <a:bodyPr>
            <a:normAutofit fontScale="90000"/>
          </a:bodyPr>
          <a:lstStyle/>
          <a:p>
            <a:r>
              <a:rPr lang="en-US" sz="3200" b="1" dirty="0">
                <a:latin typeface="Times New Roman" panose="02020603050405020304" pitchFamily="18" charset="0"/>
                <a:cs typeface="Times New Roman" panose="02020603050405020304" pitchFamily="18" charset="0"/>
              </a:rPr>
              <a:t>APPLICATIONS</a:t>
            </a:r>
          </a:p>
        </p:txBody>
      </p:sp>
      <p:sp>
        <p:nvSpPr>
          <p:cNvPr id="4" name="Rectangle 1">
            <a:extLst>
              <a:ext uri="{FF2B5EF4-FFF2-40B4-BE49-F238E27FC236}">
                <a16:creationId xmlns:a16="http://schemas.microsoft.com/office/drawing/2014/main" id="{E86EC00E-85AC-C07C-C274-93E93C0C81EC}"/>
              </a:ext>
            </a:extLst>
          </p:cNvPr>
          <p:cNvSpPr>
            <a:spLocks noGrp="1" noChangeArrowheads="1"/>
          </p:cNvSpPr>
          <p:nvPr>
            <p:ph type="subTitle" idx="1"/>
          </p:nvPr>
        </p:nvSpPr>
        <p:spPr bwMode="auto">
          <a:xfrm>
            <a:off x="609600" y="886548"/>
            <a:ext cx="8229600" cy="5406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l">
              <a:spcBef>
                <a:spcPts val="1500"/>
              </a:spcBef>
              <a:spcAft>
                <a:spcPts val="750"/>
              </a:spcAft>
              <a:buNone/>
            </a:pPr>
            <a:r>
              <a:rPr lang="en-US" sz="2200" b="1" dirty="0">
                <a:solidFill>
                  <a:schemeClr val="tx1"/>
                </a:solidFill>
                <a:effectLst/>
                <a:latin typeface="Times New Roman" panose="02020603050405020304" pitchFamily="18" charset="0"/>
                <a:cs typeface="Times New Roman" panose="02020603050405020304" pitchFamily="18" charset="0"/>
              </a:rPr>
              <a:t>1. Accessibility Solutions</a:t>
            </a:r>
          </a:p>
          <a:p>
            <a:pPr lvl="1" algn="l">
              <a:spcBef>
                <a:spcPts val="150"/>
              </a:spcBef>
              <a:spcAft>
                <a:spcPts val="150"/>
              </a:spcAft>
              <a:buFont typeface="Arial" panose="020B0604020202020204" pitchFamily="34" charset="0"/>
              <a:buChar char="•"/>
            </a:pPr>
            <a:r>
              <a:rPr lang="en-US" sz="1800" b="1" dirty="0">
                <a:solidFill>
                  <a:schemeClr val="tx1"/>
                </a:solidFill>
                <a:effectLst/>
                <a:latin typeface="Times New Roman" panose="02020603050405020304" pitchFamily="18" charset="0"/>
                <a:cs typeface="Times New Roman" panose="02020603050405020304" pitchFamily="18" charset="0"/>
              </a:rPr>
              <a:t>Visual Impairment Support</a:t>
            </a:r>
            <a:r>
              <a:rPr lang="en-US" sz="1800" dirty="0">
                <a:solidFill>
                  <a:schemeClr val="tx1"/>
                </a:solidFill>
                <a:effectLst/>
                <a:latin typeface="Times New Roman" panose="02020603050405020304" pitchFamily="18" charset="0"/>
                <a:cs typeface="Times New Roman" panose="02020603050405020304" pitchFamily="18" charset="0"/>
              </a:rPr>
              <a:t>: Provides direct access to web content for blind and visually impaired individuals through Braille conversion</a:t>
            </a:r>
          </a:p>
          <a:p>
            <a:pPr lvl="1" algn="l">
              <a:spcBef>
                <a:spcPts val="150"/>
              </a:spcBef>
              <a:spcAft>
                <a:spcPts val="150"/>
              </a:spcAft>
              <a:buFont typeface="Arial" panose="020B0604020202020204" pitchFamily="34" charset="0"/>
              <a:buChar char="•"/>
            </a:pPr>
            <a:r>
              <a:rPr lang="en-US" sz="1800" b="1" dirty="0">
                <a:solidFill>
                  <a:schemeClr val="tx1"/>
                </a:solidFill>
                <a:effectLst/>
                <a:latin typeface="Times New Roman" panose="02020603050405020304" pitchFamily="18" charset="0"/>
                <a:cs typeface="Times New Roman" panose="02020603050405020304" pitchFamily="18" charset="0"/>
              </a:rPr>
              <a:t>Multilingual Accessibility</a:t>
            </a:r>
            <a:r>
              <a:rPr lang="en-US" sz="1800" dirty="0">
                <a:solidFill>
                  <a:schemeClr val="tx1"/>
                </a:solidFill>
                <a:effectLst/>
                <a:latin typeface="Times New Roman" panose="02020603050405020304" pitchFamily="18" charset="0"/>
                <a:cs typeface="Times New Roman" panose="02020603050405020304" pitchFamily="18" charset="0"/>
              </a:rPr>
              <a:t>: Extends accessibility to non-English speakers with Hindi and Kannada support</a:t>
            </a:r>
          </a:p>
          <a:p>
            <a:pPr algn="l">
              <a:spcBef>
                <a:spcPts val="1500"/>
              </a:spcBef>
              <a:spcAft>
                <a:spcPts val="750"/>
              </a:spcAft>
              <a:buNone/>
            </a:pPr>
            <a:r>
              <a:rPr lang="en-US" sz="2200" b="1" dirty="0">
                <a:solidFill>
                  <a:schemeClr val="tx1"/>
                </a:solidFill>
                <a:effectLst/>
                <a:latin typeface="Times New Roman" panose="02020603050405020304" pitchFamily="18" charset="0"/>
                <a:cs typeface="Times New Roman" panose="02020603050405020304" pitchFamily="18" charset="0"/>
              </a:rPr>
              <a:t>2. Education and Learning</a:t>
            </a:r>
          </a:p>
          <a:p>
            <a:pPr lvl="1" algn="l">
              <a:spcBef>
                <a:spcPts val="150"/>
              </a:spcBef>
              <a:spcAft>
                <a:spcPts val="150"/>
              </a:spcAft>
              <a:buFont typeface="Arial" panose="020B0604020202020204" pitchFamily="34" charset="0"/>
              <a:buChar char="•"/>
            </a:pPr>
            <a:r>
              <a:rPr lang="en-US" sz="1800" b="1" dirty="0">
                <a:solidFill>
                  <a:schemeClr val="tx1"/>
                </a:solidFill>
                <a:effectLst/>
                <a:latin typeface="Times New Roman" panose="02020603050405020304" pitchFamily="18" charset="0"/>
                <a:cs typeface="Times New Roman" panose="02020603050405020304" pitchFamily="18" charset="0"/>
              </a:rPr>
              <a:t>Educational Materials</a:t>
            </a:r>
            <a:r>
              <a:rPr lang="en-US" sz="1800" dirty="0">
                <a:solidFill>
                  <a:schemeClr val="tx1"/>
                </a:solidFill>
                <a:effectLst/>
                <a:latin typeface="Times New Roman" panose="02020603050405020304" pitchFamily="18" charset="0"/>
                <a:cs typeface="Times New Roman" panose="02020603050405020304" pitchFamily="18" charset="0"/>
              </a:rPr>
              <a:t>: Converts educational websites and resources into Braille for visually impaired students</a:t>
            </a:r>
          </a:p>
          <a:p>
            <a:pPr lvl="1" algn="l">
              <a:spcBef>
                <a:spcPts val="150"/>
              </a:spcBef>
              <a:spcAft>
                <a:spcPts val="150"/>
              </a:spcAft>
              <a:buFont typeface="Arial" panose="020B0604020202020204" pitchFamily="34" charset="0"/>
              <a:buChar char="•"/>
            </a:pPr>
            <a:r>
              <a:rPr lang="en-US" sz="1800" b="1" dirty="0">
                <a:solidFill>
                  <a:schemeClr val="tx1"/>
                </a:solidFill>
                <a:effectLst/>
                <a:latin typeface="Times New Roman" panose="02020603050405020304" pitchFamily="18" charset="0"/>
                <a:cs typeface="Times New Roman" panose="02020603050405020304" pitchFamily="18" charset="0"/>
              </a:rPr>
              <a:t>Library Resources</a:t>
            </a:r>
            <a:r>
              <a:rPr lang="en-US" sz="1800" dirty="0">
                <a:solidFill>
                  <a:schemeClr val="tx1"/>
                </a:solidFill>
                <a:effectLst/>
                <a:latin typeface="Times New Roman" panose="02020603050405020304" pitchFamily="18" charset="0"/>
                <a:cs typeface="Times New Roman" panose="02020603050405020304" pitchFamily="18" charset="0"/>
              </a:rPr>
              <a:t>: Enhances accessibility of digital libraries and academic repositories</a:t>
            </a:r>
          </a:p>
          <a:p>
            <a:pPr algn="l">
              <a:spcBef>
                <a:spcPts val="1500"/>
              </a:spcBef>
              <a:spcAft>
                <a:spcPts val="750"/>
              </a:spcAft>
              <a:buNone/>
            </a:pPr>
            <a:r>
              <a:rPr lang="en-US" sz="2200" b="1" dirty="0">
                <a:solidFill>
                  <a:schemeClr val="tx1"/>
                </a:solidFill>
                <a:latin typeface="Times New Roman" panose="02020603050405020304" pitchFamily="18" charset="0"/>
                <a:cs typeface="Times New Roman" panose="02020603050405020304" pitchFamily="18" charset="0"/>
              </a:rPr>
              <a:t>3</a:t>
            </a:r>
            <a:r>
              <a:rPr lang="en-US" sz="2200" b="1" dirty="0">
                <a:solidFill>
                  <a:schemeClr val="tx1"/>
                </a:solidFill>
                <a:effectLst/>
                <a:latin typeface="Times New Roman" panose="02020603050405020304" pitchFamily="18" charset="0"/>
                <a:cs typeface="Times New Roman" panose="02020603050405020304" pitchFamily="18" charset="0"/>
              </a:rPr>
              <a:t>. Public Services</a:t>
            </a:r>
          </a:p>
          <a:p>
            <a:pPr lvl="1" algn="l">
              <a:spcBef>
                <a:spcPts val="150"/>
              </a:spcBef>
              <a:spcAft>
                <a:spcPts val="150"/>
              </a:spcAft>
              <a:buFont typeface="Arial" panose="020B0604020202020204" pitchFamily="34" charset="0"/>
              <a:buChar char="•"/>
            </a:pPr>
            <a:r>
              <a:rPr lang="en-US" sz="1800" b="1" dirty="0">
                <a:solidFill>
                  <a:schemeClr val="tx1"/>
                </a:solidFill>
                <a:effectLst/>
                <a:latin typeface="Times New Roman" panose="02020603050405020304" pitchFamily="18" charset="0"/>
                <a:cs typeface="Times New Roman" panose="02020603050405020304" pitchFamily="18" charset="0"/>
              </a:rPr>
              <a:t>Library Services</a:t>
            </a:r>
            <a:r>
              <a:rPr lang="en-US" sz="1800" dirty="0">
                <a:solidFill>
                  <a:schemeClr val="tx1"/>
                </a:solidFill>
                <a:effectLst/>
                <a:latin typeface="Times New Roman" panose="02020603050405020304" pitchFamily="18" charset="0"/>
                <a:cs typeface="Times New Roman" panose="02020603050405020304" pitchFamily="18" charset="0"/>
              </a:rPr>
              <a:t>: Enhances public library digital offerings for visually impaired patrons</a:t>
            </a:r>
          </a:p>
          <a:p>
            <a:pPr lvl="1" algn="l">
              <a:spcBef>
                <a:spcPts val="150"/>
              </a:spcBef>
              <a:spcAft>
                <a:spcPts val="150"/>
              </a:spcAft>
              <a:buFont typeface="Arial" panose="020B0604020202020204" pitchFamily="34" charset="0"/>
              <a:buChar char="•"/>
            </a:pPr>
            <a:r>
              <a:rPr lang="en-US" sz="1800" b="1" dirty="0">
                <a:solidFill>
                  <a:schemeClr val="tx1"/>
                </a:solidFill>
                <a:effectLst/>
                <a:latin typeface="Times New Roman" panose="02020603050405020304" pitchFamily="18" charset="0"/>
                <a:cs typeface="Times New Roman" panose="02020603050405020304" pitchFamily="18" charset="0"/>
              </a:rPr>
              <a:t>Community Centers</a:t>
            </a:r>
            <a:r>
              <a:rPr lang="en-US" sz="1800" dirty="0">
                <a:solidFill>
                  <a:schemeClr val="tx1"/>
                </a:solidFill>
                <a:effectLst/>
                <a:latin typeface="Times New Roman" panose="02020603050405020304" pitchFamily="18" charset="0"/>
                <a:cs typeface="Times New Roman" panose="02020603050405020304" pitchFamily="18" charset="0"/>
              </a:rPr>
              <a:t>: Provides tools for community centers serving people with disabilities</a:t>
            </a:r>
          </a:p>
        </p:txBody>
      </p:sp>
    </p:spTree>
    <p:extLst>
      <p:ext uri="{BB962C8B-B14F-4D97-AF65-F5344CB8AC3E}">
        <p14:creationId xmlns:p14="http://schemas.microsoft.com/office/powerpoint/2010/main" val="2904698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F309B-C1E4-BABD-2F75-51D9EAB30E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9F96EC-73D1-4BA8-3285-1943EBB3471A}"/>
              </a:ext>
            </a:extLst>
          </p:cNvPr>
          <p:cNvSpPr>
            <a:spLocks noGrp="1"/>
          </p:cNvSpPr>
          <p:nvPr>
            <p:ph type="ctrTitle"/>
          </p:nvPr>
        </p:nvSpPr>
        <p:spPr>
          <a:xfrm>
            <a:off x="533400" y="457200"/>
            <a:ext cx="7772400" cy="96081"/>
          </a:xfrm>
        </p:spPr>
        <p:txBody>
          <a:bodyPr>
            <a:normAutofit fontScale="90000"/>
          </a:bodyPr>
          <a:lstStyle/>
          <a:p>
            <a:r>
              <a:rPr lang="en-US" sz="3200" b="1" dirty="0">
                <a:latin typeface="Times New Roman" panose="02020603050405020304" pitchFamily="18" charset="0"/>
                <a:cs typeface="Times New Roman" panose="02020603050405020304" pitchFamily="18" charset="0"/>
              </a:rPr>
              <a:t>DEMONSTRATION</a:t>
            </a:r>
          </a:p>
        </p:txBody>
      </p:sp>
      <p:pic>
        <p:nvPicPr>
          <p:cNvPr id="3" name="Project output Demo">
            <a:hlinkClick r:id="" action="ppaction://media"/>
            <a:extLst>
              <a:ext uri="{FF2B5EF4-FFF2-40B4-BE49-F238E27FC236}">
                <a16:creationId xmlns:a16="http://schemas.microsoft.com/office/drawing/2014/main" id="{231A5AFA-F7AC-D980-C8A0-E4FE6A728B12}"/>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838200"/>
            <a:ext cx="9144000" cy="4857750"/>
          </a:xfrm>
          <a:prstGeom prst="rect">
            <a:avLst/>
          </a:prstGeom>
        </p:spPr>
      </p:pic>
    </p:spTree>
    <p:extLst>
      <p:ext uri="{BB962C8B-B14F-4D97-AF65-F5344CB8AC3E}">
        <p14:creationId xmlns:p14="http://schemas.microsoft.com/office/powerpoint/2010/main" val="2372690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9748"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CONCLUSION </a:t>
            </a:r>
          </a:p>
        </p:txBody>
      </p:sp>
      <p:sp>
        <p:nvSpPr>
          <p:cNvPr id="3" name="Content Placeholder 2"/>
          <p:cNvSpPr>
            <a:spLocks noGrp="1"/>
          </p:cNvSpPr>
          <p:nvPr>
            <p:ph idx="1"/>
          </p:nvPr>
        </p:nvSpPr>
        <p:spPr>
          <a:xfrm>
            <a:off x="457200" y="1600201"/>
            <a:ext cx="8229600" cy="3429000"/>
          </a:xfrm>
        </p:spPr>
        <p:txBody>
          <a:bodyPr>
            <a:normAutofit lnSpcReduction="10000"/>
          </a:bodyPr>
          <a:lstStyle/>
          <a:p>
            <a:pPr marL="0" indent="0" algn="just">
              <a:buNone/>
            </a:pPr>
            <a:r>
              <a:rPr lang="en-US" sz="1800" dirty="0">
                <a:latin typeface="Times New Roman" pitchFamily="18" charset="0"/>
                <a:cs typeface="Times New Roman" pitchFamily="18" charset="0"/>
              </a:rPr>
              <a:t>The Website Content Summarizer to Braille Conversion project is designed to address the growing need for accessible digital content for visually impaired individuals. By leveraging cutting-edge web scraping techniques, natural language processing (NLP) for content summarization, and Braille translation, the system will enable users to easily convert website content into readable Braille formats. This process will not only enhance accessibility but also provide a seamless user experience for individuals who rely on Braille for reading. The project focuses on ensuring that content is concise, accurate, and relevant, giving users a clear and comprehensible summary of web-based information. The system will provide both extractive and abstractive summarization methods, ensuring flexibility in summarizing content based on user preferences. By offering Braille in standard formats such as .BRF and .PEF, the solution ensures compatibility with common Braille devices and displays, while also providing the option for users to view Braille patterns directly on-screen.</a:t>
            </a:r>
          </a:p>
        </p:txBody>
      </p:sp>
    </p:spTree>
    <p:extLst>
      <p:ext uri="{BB962C8B-B14F-4D97-AF65-F5344CB8AC3E}">
        <p14:creationId xmlns:p14="http://schemas.microsoft.com/office/powerpoint/2010/main" val="21463431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C9BDBE-A93E-DBB3-B42E-50067CDFE23A}"/>
              </a:ext>
            </a:extLst>
          </p:cNvPr>
          <p:cNvSpPr txBox="1"/>
          <p:nvPr/>
        </p:nvSpPr>
        <p:spPr>
          <a:xfrm>
            <a:off x="2886987" y="2819400"/>
            <a:ext cx="3370025" cy="707886"/>
          </a:xfrm>
          <a:prstGeom prst="rect">
            <a:avLst/>
          </a:prstGeom>
          <a:noFill/>
        </p:spPr>
        <p:txBody>
          <a:bodyPr wrap="none" rtlCol="0">
            <a:spAutoFit/>
          </a:bodyPr>
          <a:lstStyle/>
          <a:p>
            <a:pPr algn="just"/>
            <a:r>
              <a:rPr lang="en-US" sz="4000" dirty="0">
                <a:solidFill>
                  <a:srgbClr val="C00000"/>
                </a:solidFill>
                <a:latin typeface="Times New Roman" panose="02020603050405020304" pitchFamily="18" charset="0"/>
                <a:cs typeface="Times New Roman" panose="02020603050405020304" pitchFamily="18" charset="0"/>
              </a:rPr>
              <a:t>THANK YOU!</a:t>
            </a:r>
            <a:endParaRPr lang="en-IN" sz="4000"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62766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13330</TotalTime>
  <Words>3251</Words>
  <Application>Microsoft Office PowerPoint</Application>
  <PresentationFormat>On-screen Show (4:3)</PresentationFormat>
  <Paragraphs>244</Paragraphs>
  <Slides>24</Slides>
  <Notes>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Times New Roman</vt:lpstr>
      <vt:lpstr>Office Theme</vt:lpstr>
      <vt:lpstr>PROJECT PHASE 2 REVIEW 1</vt:lpstr>
      <vt:lpstr>TEAM MEMBERS</vt:lpstr>
      <vt:lpstr>ABSTRACT</vt:lpstr>
      <vt:lpstr>INTRODUCTION</vt:lpstr>
      <vt:lpstr>PROBLEM STATEMENT</vt:lpstr>
      <vt:lpstr>EXISTING SYSTEM</vt:lpstr>
      <vt:lpstr>PROPOSED SYSTEM</vt:lpstr>
      <vt:lpstr>LITERATURE SURVEY</vt:lpstr>
      <vt:lpstr>LITERATURE SURVEY</vt:lpstr>
      <vt:lpstr>LITERATURE SURVEY</vt:lpstr>
      <vt:lpstr>LITERATURE SURVEY</vt:lpstr>
      <vt:lpstr>PowerPoint Presentation</vt:lpstr>
      <vt:lpstr>PowerPoint Presentation</vt:lpstr>
      <vt:lpstr>METHODOLOGY </vt:lpstr>
      <vt:lpstr>ADVANTAGES &amp; DISADVANTAGES</vt:lpstr>
      <vt:lpstr>SYSTEM DESIGN</vt:lpstr>
      <vt:lpstr>IMPLEMENTATION BACK END</vt:lpstr>
      <vt:lpstr>IMPLEMENTATION BACK END</vt:lpstr>
      <vt:lpstr>IMPLEMENTATION FRONT END</vt:lpstr>
      <vt:lpstr>IMPLEMENTATION FRONT END</vt:lpstr>
      <vt:lpstr>APPLICATIONS</vt:lpstr>
      <vt:lpstr>DEMONSTRATION</vt:lpstr>
      <vt:lpstr>CONCLUSION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Karthik Shetty K</cp:lastModifiedBy>
  <cp:revision>586</cp:revision>
  <dcterms:created xsi:type="dcterms:W3CDTF">2006-08-16T00:00:00Z</dcterms:created>
  <dcterms:modified xsi:type="dcterms:W3CDTF">2025-03-09T16:19:41Z</dcterms:modified>
</cp:coreProperties>
</file>